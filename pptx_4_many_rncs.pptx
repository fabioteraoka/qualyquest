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49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54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5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5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57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58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59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60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61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6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6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64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_rels/chart6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1.xlsx"/></Relationships>
</file>

<file path=ppt/charts/_rels/chart6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2.xlsx"/></Relationships>
</file>

<file path=ppt/charts/_rels/chart6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3.xlsx"/></Relationships>
</file>

<file path=ppt/charts/_rels/chart6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4.xlsx"/></Relationships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25</c:v>
                </c:pt>
                <c:pt idx="2">
                  <c:v>60</c:v>
                </c:pt>
                <c:pt idx="3">
                  <c:v>100</c:v>
                </c:pt>
                <c:pt idx="4">
                  <c:v>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20</c:v>
                </c:pt>
                <c:pt idx="3">
                  <c:v>0</c:v>
                </c:pt>
                <c:pt idx="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REC - Manutençã...</c:v>
                  </c:pt>
                  <c:pt idx="1">
                    <c:v>Engenharia / Pu...</c:v>
                  </c:pt>
                  <c:pt idx="2">
                    <c:v>Treinamento / R...</c:v>
                  </c:pt>
                  <c:pt idx="3">
                    <c:v>Suprimentos / A...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16</c:v>
                </c:pt>
                <c:pt idx="2">
                  <c:v>32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</c:v>
                </c:pt>
                <c:pt idx="1">
                  <c:v>32</c:v>
                </c:pt>
                <c:pt idx="2">
                  <c:v>32</c:v>
                </c:pt>
                <c:pt idx="3">
                  <c:v>32</c:v>
                </c:pt>
                <c:pt idx="4">
                  <c:v>32</c:v>
                </c:pt>
                <c:pt idx="5">
                  <c:v>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0</c:v>
                </c:pt>
                <c:pt idx="2">
                  <c:v>32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32</c:v>
                </c:pt>
                <c:pt idx="1">
                  <c:v>0</c:v>
                </c:pt>
                <c:pt idx="2">
                  <c:v>48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3</c:v>
                </c:pt>
                <c:pt idx="1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Sem Constataçõe...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32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</c:v>
                </c:pt>
                <c:pt idx="1">
                  <c:v>32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SGQ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Abertas | 20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185416"/>
                <a:gridCol w="859536"/>
                <a:gridCol w="859536"/>
                <a:gridCol w="1399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65%, com status classificado como "ATENCAO".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dos desvios foram saneados e formalmente encerrados no fluxo F 001-29.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80 desvios registrados, 20 (25%)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 - Manutenção / Calibração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01368"/>
                <a:gridCol w="877824"/>
                <a:gridCol w="896112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Interna de Processo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Interna de Processo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Interna de Processo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Interna de Processo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"REC - Manutenção / Calibração" com 32 ocorrência(s).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30936"/>
                <a:gridCol w="1380744"/>
                <a:gridCol w="1298448"/>
                <a:gridCol w="630936"/>
                <a:gridCol w="768096"/>
                <a:gridCol w="594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32 desvio(s) foram classificados com Risco Crítico e exigem reporte à Diretoria.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(PARTE 2 DE 15)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complementar das ocorrências operacionais e prazos de resolução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ANALISADO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DE RESOLUÇÃO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Contenção / 5W2H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 DE DETALHE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 15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Auditável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2816352"/>
                <a:gridCol w="2624328"/>
                <a:gridCol w="1261872"/>
                <a:gridCol w="1591056"/>
                <a:gridCol w="1143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Formulários F 001-29 registrados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(PARTE 3 DE 15)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complementar das ocorrências operacionais e prazos de resolução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ANALISADO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DE RESOLUÇÃO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Contenção / 5W2H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 DE DETALHE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15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Auditável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2862072"/>
                <a:gridCol w="2615184"/>
                <a:gridCol w="1261872"/>
                <a:gridCol w="1554480"/>
                <a:gridCol w="1143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Formulários F 001-29 registrados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32 desvio(s) atingiram a zona vermelha crítica da Matriz 5x5.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(1/10)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41832"/>
                <a:gridCol w="914400"/>
                <a:gridCol w="1783080"/>
                <a:gridCol w="5230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(2/10)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32688"/>
                <a:gridCol w="886968"/>
                <a:gridCol w="1783080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(3/10)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86968"/>
                <a:gridCol w="1773936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(4/10)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41832"/>
                <a:gridCol w="914400"/>
                <a:gridCol w="1783080"/>
                <a:gridCol w="5230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(5/10)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32688"/>
                <a:gridCol w="886968"/>
                <a:gridCol w="1783080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(6/10)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86968"/>
                <a:gridCol w="1773936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(7/10)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41832"/>
                <a:gridCol w="914400"/>
                <a:gridCol w="1783080"/>
                <a:gridCol w="5230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(8/10)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32688"/>
                <a:gridCol w="886968"/>
                <a:gridCol w="1783080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(9/10)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86968"/>
                <a:gridCol w="1773936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(10/10)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96112"/>
                <a:gridCol w="1783080"/>
                <a:gridCol w="52669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de 80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ativa mandatória sobre 32 ação(ões) corretiva(s) que ultrapassaram o prazo acordado.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5W2H — DETALHAMENTO (PARTE 2 DE 16)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detalhada das ações corretivas, responsáveis técnicos, prazos acordados e status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NO LOTE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DE EXECUÇÃO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 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 GLOBAL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5W2H Auditável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152144"/>
                <a:gridCol w="6007608"/>
                <a:gridCol w="1234440"/>
                <a:gridCol w="1152144"/>
                <a:gridCol w="11521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(O Quê)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(Quem)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(Quando)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de quadro Kanban de ferramentas calibradas e substituição de todas as etiquetas por modelos com tarja colorida mensal.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Carlos Eduardo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Eliminação definitiva de cópias físicas de manuais técnicos e adoção de EFB / Portal Digital com validação de hash diária.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Fernanda Lins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Disponibilizar o curso de Fatores Humanos em plataforma E-learning corporativa e implementar trava no sistema de escala para alertar 60 dias antes da expiração.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Juliana Castro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Reforma completa da área de quarentena, etiquetagem em cores padronizadas (Verde/Vermelho/Amarelo) e implantação de procedimento de descaracterização imediata de peças sucateadas.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Marcos Vinicius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1) Migrar todas as planilhas para a base de dados centralizada do SGQ com travas de integridade.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2) Revisar e aprovar o procedimento MOMQ 3.4.3 versão 04.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3) Treinar 100% dos inspetores de qualidade e mecânicos das bases.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Rair Rodrigues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dos formulários F 001-29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5W2H — DETALHAMENTO (PARTE 3 DE 16)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detalhada das ações corretivas, responsáveis técnicos, prazos acordados e status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NO LOTE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DE EXECUÇÃO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 GLOBAL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5W2H Auditável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152144"/>
                <a:gridCol w="6007608"/>
                <a:gridCol w="1234440"/>
                <a:gridCol w="1152144"/>
                <a:gridCol w="11521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(O Quê)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(Quem)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(Quando)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de quadro Kanban de ferramentas calibradas e substituição de todas as etiquetas por modelos com tarja colorida mensal.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Carlos Eduardo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Eliminação definitiva de cópias físicas de manuais técnicos e adoção de EFB / Portal Digital com validação de hash diária.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Fernanda Lins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Disponibilizar o curso de Fatores Humanos em plataforma E-learning corporativa e implementar trava no sistema de escala para alertar 60 dias antes da expiração.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Juliana Castro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Reforma completa da área de quarentena, etiquetagem em cores padronizadas (Verde/Vermelho/Amarelo) e implantação de procedimento de descaracterização imediata de peças sucateadas.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Marcos Vinicius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1) Migrar todas as planilhas para a base de dados centralizada do SGQ com travas de integridade.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2) Revisar e aprovar o procedimento MOMQ 3.4.3 versão 04.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3) Treinar 100% dos inspetores de qualidade e mecânicos das bases.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Rair Rodrigues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dos formulários F 001-29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25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26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vencimentos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768096"/>
                <a:gridCol w="704088"/>
                <a:gridCol w="731520"/>
                <a:gridCol w="704088"/>
                <a:gridCol w="8595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Mecânicos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Técnicos de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Inspetores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Almoxarifado &amp; Suprimentos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96%.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habilitações ou treinamentos regulatórios vencidos na equipe técnica e de qualidade.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27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2 documento(s) com revisão bienal ou atualização técnica em elaboração.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28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95528"/>
                <a:gridCol w="758952"/>
                <a:gridCol w="804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+61d (17%)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+102d (28%)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29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Prontidão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Maiores | 0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auditoria externa pendente no período; organização mantém protocolo de prontidão contínua.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constatações abertas perante órgãos homologadores ou clientes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30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53312"/>
                <a:gridCol w="832104"/>
                <a:gridCol w="1261872"/>
                <a:gridCol w="1856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RNC(s) com Risco Crítico (P1) exigem barreira de contenção mandatória.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Plano(s) de ação corretiva 5W2H com prazo regulatório extrapolado.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31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32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33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Operacional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34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35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36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ATENÇÃO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37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QG-E01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91456"/>
                <a:gridCol w="59070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2026-10-10T12:35:10Z</dcterms:created>
  <dcterms:modified xsi:type="dcterms:W3CDTF">2026-10-10T12:35:10Z</dcterms:modified>
</cp:coreProperties>
</file>