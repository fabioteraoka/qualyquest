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33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4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5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6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7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9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0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4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4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43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44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45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46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47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48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3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3.xlsx"/></Relationships>
</file>

<file path=ppt/charts/_rels/chart3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4.xlsx"/></Relationships>
</file>

<file path=ppt/charts/_rels/chart3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5.xlsx"/></Relationships>
</file>

<file path=ppt/charts/_rels/chart3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6.xlsx"/></Relationships>
</file>

<file path=ppt/charts/_rels/chart3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7.xlsx"/></Relationships>
</file>

<file path=ppt/charts/_rels/chart3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8.xlsx"/></Relationships>
</file>

<file path=ppt/charts/_rels/chart3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9.xlsx"/></Relationships>
</file>

<file path=ppt/charts/_rels/chart4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0.xlsx"/></Relationships>
</file>

<file path=ppt/charts/_rels/chart4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1.xlsx"/></Relationships>
</file>

<file path=ppt/charts/_rels/chart4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2.xlsx"/></Relationships>
</file>

<file path=ppt/charts/_rels/chart4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3.xlsx"/></Relationships>
</file>

<file path=ppt/charts/_rels/chart4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4.xlsx"/></Relationships>
</file>

<file path=ppt/charts/_rels/chart4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5.xlsx"/></Relationships>
</file>

<file path=ppt/charts/_rels/chart4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6.xlsx"/></Relationships>
</file>

<file path=ppt/charts/_rels/chart4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7.xlsx"/></Relationships>
</file>

<file path=ppt/charts/_rels/chart4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8.xlsx"/></Relationships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VISÃO GERAL DO SGQ (MACRO-INDICADORES)</c:v>
                </c:pt>
              </c:strCache>
            </c:strRef>
          </c:tx>
          <c:spPr>
            <a:solidFill>
              <a:srgbClr val="1E40A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40a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84c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SGQ Health</c:v>
                  </c:pt>
                  <c:pt idx="1">
                    <c:v>Resolução RNCs</c:v>
                  </c:pt>
                  <c:pt idx="2">
                    <c:v>Pontualidade 5W2H</c:v>
                  </c:pt>
                  <c:pt idx="3">
                    <c:v>Eficácia Compro...</c:v>
                  </c:pt>
                  <c:pt idx="4">
                    <c:v>Vigência CHTs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71</c:v>
                </c:pt>
                <c:pt idx="1">
                  <c:v>40</c:v>
                </c:pt>
                <c:pt idx="2">
                  <c:v>60</c:v>
                </c:pt>
                <c:pt idx="3">
                  <c:v>100</c:v>
                </c:pt>
                <c:pt idx="4">
                  <c:v>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PANORAMA E FUNIL DE RNCs (FLUXO F 001-29)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6b6d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1. Identificação</c:v>
                  </c:pt>
                  <c:pt idx="1">
                    <c:v>2. Causa Raiz</c:v>
                  </c:pt>
                  <c:pt idx="2">
                    <c:v>3. Ação 5W2H</c:v>
                  </c:pt>
                  <c:pt idx="3">
                    <c:v>4. Eficácia</c:v>
                  </c:pt>
                  <c:pt idx="4">
                    <c:v>5. Encerradas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2</c:v>
                </c:pt>
                <c:pt idx="3">
                  <c:v>1</c:v>
                </c:pt>
                <c:pt idx="4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DISTRIBUIÇÃO DE RNCs POR SETOR OPERACIONAL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REC - Manutençã...</c:v>
                  </c:pt>
                  <c:pt idx="1">
                    <c:v>Engenharia / Pu...</c:v>
                  </c:pt>
                  <c:pt idx="2">
                    <c:v>Treinamento / R...</c:v>
                  </c:pt>
                  <c:pt idx="3">
                    <c:v>Suprimentos / A...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RNCs CRÍTICAS E PENDÊNCIAS RELEVANTES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ab30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Crítico (P1)</c:v>
                  </c:pt>
                  <c:pt idx="1">
                    <c:v>Alto (P2)</c:v>
                  </c:pt>
                  <c:pt idx="2">
                    <c:v>Médio (P3)</c:v>
                  </c:pt>
                  <c:pt idx="3">
                    <c:v>Baixo (P4)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1</c:v>
                </c:pt>
                <c:pt idx="2">
                  <c:v>2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INVESTIGAÇÃO DE CAUSAS RAÍZES (ISHIKAWA 6M)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6b6d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c4899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Método</c:v>
                  </c:pt>
                  <c:pt idx="1">
                    <c:v>Mão de Obra</c:v>
                  </c:pt>
                  <c:pt idx="2">
                    <c:v>Máquina</c:v>
                  </c:pt>
                  <c:pt idx="3">
                    <c:v>Material</c:v>
                  </c:pt>
                  <c:pt idx="4">
                    <c:v>Meio Ambiente</c:v>
                  </c:pt>
                  <c:pt idx="5">
                    <c:v>Medição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PLANOS DE AÇÃO CORRETIVA (5W2H) &amp; PONTUALIDADE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Concluídas</c:v>
                  </c:pt>
                  <c:pt idx="1">
                    <c:v>Em Andamento</c:v>
                  </c:pt>
                  <c:pt idx="2">
                    <c:v>Atrasadas</c:v>
                  </c:pt>
                  <c:pt idx="3">
                    <c:v>A Vencer 7d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0</c:v>
                </c:pt>
                <c:pt idx="2">
                  <c:v>2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EFICÁCIA DAS AÇÕES &amp; BLOQUEIO DE REINCIDÊNCIA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bubble3D val="0"/>
            <c:spPr>
              <a:solidFill>
                <a:srgbClr val="EF4444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Eficazes</c:v>
                </c:pt>
                <c:pt idx="1">
                  <c:v>Ineficazes (Rea...</c:v>
                </c:pt>
                <c:pt idx="2">
                  <c:v>Em Quarentena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</c:v>
                </c:pt>
                <c:pt idx="1">
                  <c:v>0</c:v>
                </c:pt>
                <c:pt idx="2">
                  <c:v>3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PESSOAS, COMPETÊNCIAS &amp; STATUS OPERACIONAL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bubble3D val="0"/>
            <c:spPr>
              <a:solidFill>
                <a:srgbClr val="3B82F6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bubble3D val="0"/>
            <c:spPr>
              <a:solidFill>
                <a:srgbClr val="EF4444"/>
              </a:solidFill>
              <a:effectLst/>
            </c:spPr>
          </c:dPt>
          <c:dPt>
            <c:idx val="4"/>
            <c:bubble3D val="0"/>
            <c:spPr>
              <a:solidFill>
                <a:srgbClr val="94A3B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Ativo</c:v>
                </c:pt>
                <c:pt idx="1">
                  <c:v>Em Treinamento</c:v>
                </c:pt>
                <c:pt idx="2">
                  <c:v>Restrito</c:v>
                </c:pt>
                <c:pt idx="3">
                  <c:v>Suspenso</c:v>
                </c:pt>
                <c:pt idx="4">
                  <c:v>Outros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DISTRIBUIÇÃO DO EFETIVO POR ESPECIALIDADE &amp; PRONTIDÃO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Mecânico de Lin...</c:v>
                  </c:pt>
                  <c:pt idx="1">
                    <c:v>Inspetor da Qua...</c:v>
                  </c:pt>
                  <c:pt idx="2">
                    <c:v>Técnico em Aviô...</c:v>
                  </c:pt>
                  <c:pt idx="3">
                    <c:v>Mecânico Júnior...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VIGÊNCIA DE TREINAMENTOS E CHTs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Válidos</c:v>
                  </c:pt>
                  <c:pt idx="1">
                    <c:v>A Vencer (≤30d)</c:v>
                  </c:pt>
                  <c:pt idx="2">
                    <c:v>Vencidos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</c:v>
                </c:pt>
                <c:pt idx="1">
                  <c:v>0</c:v>
                </c:pt>
                <c:pt idx="2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GOVERNANÇA DOCUMENTAL E MANUAIS REGULATÓRIOS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Vigentes</c:v>
                </c:pt>
                <c:pt idx="1">
                  <c:v>Em Revisão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29</c:v>
                </c:pt>
                <c:pt idx="1">
                  <c:v>10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GESTÃO METROLÓGICA, FERRAMENTAL &amp; CONTA DE CRÉDITOS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bubble3D val="0"/>
            <c:spPr>
              <a:solidFill>
                <a:srgbClr val="EAB308"/>
              </a:solidFill>
              <a:effectLst/>
            </c:spPr>
          </c:dPt>
          <c:dPt>
            <c:idx val="2"/>
            <c:bubble3D val="0"/>
            <c:spPr>
              <a:solidFill>
                <a:srgbClr val="F97316"/>
              </a:solidFill>
              <a:effectLst/>
            </c:spPr>
          </c:dPt>
          <c:dPt>
            <c:idx val="3"/>
            <c:bubble3D val="0"/>
            <c:spPr>
              <a:solidFill>
                <a:srgbClr val="EF444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Crédito Regular...</c:v>
                </c:pt>
                <c:pt idx="1">
                  <c:v>Atenção (31-60d)</c:v>
                </c:pt>
                <c:pt idx="2">
                  <c:v>A Vencer no Mês...</c:v>
                </c:pt>
                <c:pt idx="3">
                  <c:v>Ferramentas Ven...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38</c:v>
                </c:pt>
                <c:pt idx="1">
                  <c:v>6</c:v>
                </c:pt>
                <c:pt idx="2">
                  <c:v>3</c:v>
                </c:pt>
                <c:pt idx="3">
                  <c:v>1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AUDITORIAS DA QUALIDADE &amp; CONSTATAÇÕES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0B98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Sem Constataçõe...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1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PRINCIPAIS PONTOS DE ATENÇÃO &amp; FATORES CRÍTICOS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ab30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Risco P1</c:v>
                  </c:pt>
                  <c:pt idx="1">
                    <c:v>Ações Atrasadas</c:v>
                  </c:pt>
                  <c:pt idx="2">
                    <c:v>CHTs Vencidas</c:v>
                  </c:pt>
                  <c:pt idx="3">
                    <c:v>Reincidências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10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MATRIZ DE PRIORIZAÇÃO IMEDIATA &amp; DECISÕES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Criticidade Máx...</c:v>
                  </c:pt>
                  <c:pt idx="1">
                    <c:v>Alta Criticidad...</c:v>
                  </c:pt>
                  <c:pt idx="2">
                    <c:v>Média Criticida...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FUNCIONALIDADES E STATUS DE HOMOLOGAÇÃO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Implementado / ...</c:v>
                  </c:pt>
                  <c:pt idx="1">
                    <c:v>Em Homologação ...</c:v>
                  </c:pt>
                  <c:pt idx="2">
                    <c:v>Planejado (H3)</c:v>
                  </c:pt>
                  <c:pt idx="3">
                    <c:v>Futuro (H4)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64592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APRESENTAÇÃO GERENCIAL DA QUALIDADE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Espelho Executivo da Garantia da Qualidade Aeronáutica e Segurança Operacional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4114800"/>
            <a:ext cx="10360152" cy="1737360"/>
          </a:xfrm>
          <a:prstGeom prst="roundRect">
            <a:avLst>
              <a:gd name="adj" fmla="val 421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43891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ORGANIZAÇÃO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43000" y="470916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Aviation MRO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0" y="43891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PERÍODO AUDITADO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657600" y="470916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 Geral Consolidado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72200" y="43891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RESPONSÁVEL TÉCNICO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172200" y="470916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 SGQ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0" y="43891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DE EMISSÃO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686800" y="470916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16/10/2026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621792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v2.8.0-enterprise | Documento Oficial Auditável | RBAC 145 / ISO 9001:2015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 • VISÃO EXECUTIVA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GERAL DO SGQ (MACRO-INDICADORES)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 global da integridade sistêmica, desvios operacionais e exposição a risco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SGQ HEALTH INDEX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ATENCAO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DE RNCS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Abertas | 2 Encerradas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EFICÁCIA REAL 5W2H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Ações validadas com sucesso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RISCOS CRÍTICOS (P1)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Severidade x Probabilidade ≥ 15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2157984"/>
                <a:gridCol w="841248"/>
                <a:gridCol w="841248"/>
                <a:gridCol w="14630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Macro-Indicador SGQ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Valor Atual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 Mínima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Avaliação Executiva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Índice SGQ Health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85%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Atenção Requerida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Taxa de Resolução de RNCs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75%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Atenção Requerida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Pontualidade Planos 5W2H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90%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Atenção Requerida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Taxa de Eficácia Comprovada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85%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Adequado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Vigência de Treinamentos/CHTs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95%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Risco de Auditoria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Vigência Documental de Manuais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Revisão Pendente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4297680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438912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461772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 Geral de Saúde do SGQ calculado em 71%, com status classificado como "ATENCAO".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 dos desvios foram saneados e formalmente encerrados no fluxo F 001-29.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Cálculo automatizado pelo motor sgqHealthEvaluator sobre as coleções reais do Firestore.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 • PROCESSO OPERACIONAL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PANORAMA E FUNIL DE RNCs (FLUXO F 001-29)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das Não Conformidades por fase normativa do formulário oficial de desvios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DE RNCS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INVESTIGAÇÃO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AÇÃO 5W2H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ENCERRADAS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2093976"/>
                <a:gridCol w="822960"/>
                <a:gridCol w="896112"/>
                <a:gridCol w="149047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Etapa do Fluxo F 001-29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Ocorrências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do Total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Requisito de SLA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Identificação &amp; Contenção Imediata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Até 24h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Análise Causa Raiz (Ishikawa/5P)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Até 5 dias úteis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Plano de Ação 5W2H em Andamento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Conforme prazo acordado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 Aguardando Validação de Eficácia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a 60 dias pós-ação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 Concluídas e Encerradas no SGQ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Arquivo regulatório definitivo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4041648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413308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4361688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total de 5 desvios registrados, 2 (40%) cumpriram todo o ciclo até o encerramento.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RNC(s) encontram-se na fase preliminar de identificação, contenção imediata e investigação de causas.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Coleção /organizations/{orgId}/nonConformities auditada em tempo real.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 • DISTRIBUIÇÃO OPERACIONAL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DISTRIBUIÇÃO DE RNCs POR SETOR OPERACIONAL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Incidência de não conformidades por departamento técnico e oficinas de hangar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SETORES MAPEADOS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SETOR MAIS DEMANDADO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 - Manutenção / Calibração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DO SETOR TOP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RNCs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DISPERSÃO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 Controle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1883664"/>
                <a:gridCol w="914400"/>
                <a:gridCol w="941832"/>
                <a:gridCol w="156362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Setor Operacional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Ocorrências (RNCs)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Representação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Ação Prioritária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 - Manutenção / Calibração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Acompanhamento de Rotina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Engenharia / Publicações Técnicas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Acompanhamento de Rotina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Treinamento / RH Operacional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Acompanhamento de Rotina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Suprimentos / Almoxarifado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Acompanhamento de Rotina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3785616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387705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4105656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Concentração dos desvios: o setor com maior incidência é "REC - Manutenção / Calibração" com 2 ocorrência(s).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estratificação setorial permite direcionar auditorias internas focadas e supervisão técnica reforçada.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Campo setor de cada registro na coleção de Não Conformidades.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 • CASOS CRÍTICOS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RNCs CRÍTICAS E PENDÊNCIAS RELEVANTES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Detalhamento das ocorrências de maior impacto operacional e status de contenção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CRÍTICO (P1)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ALTO (P2)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AÇÕES ATRASADAS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CONTENÇÃO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Execução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585216"/>
                <a:gridCol w="1691640"/>
                <a:gridCol w="1115568"/>
                <a:gridCol w="585216"/>
                <a:gridCol w="740664"/>
                <a:gridCol w="58521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Código RNC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Título / Descrição do Desvio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Setor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Severidade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 Atual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Prazo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Pré Auditoria FAA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 - Manutenção / Calibração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Ação em Andamento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2026-08-31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Controle de Ferramentas Especiais - Base CWB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 - Manutenção / Calibração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Crítico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Ação em Andamento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2026-08-18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Treinamento Obrigatório de Fatores Humanos em Atraso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Treinamento / RH Operacional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Médio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Aguardando Eficácia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2026-08-15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Segregação Inadequada de Peças Sucateadas no Almoxarifado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Suprimentos / Almoxarifado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Crítico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Encerrada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2026-07-25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3785616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387705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4105656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EXECUTIVO: 2 desvio(s) foram classificados com Risco Crítico e exigem reporte à Diretoria.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Ocorrências com severidade ≥ 4 exigem bloqueio físico de componentes ou aeronave até homologação de liberação.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Classificação de Severidade x Probabilidade do formulário F 001-29.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6 • SEGURANÇA OPERACIONAL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DE RISCOS &amp; MATRIZ AERONÁUTICA 5x5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Severidade x Probabilidade de Ocorrência segundo diretrizes do SGSO / RBAC 145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CRÍTICO (P1)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Severidade x Prob. ≥ 15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ALTO (P2)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10 a 14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MÉDIO (P3)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5 a 9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BAIXO (P4)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1 a 4</a:t>
            </a:r>
            <a:endParaRPr lang="en-US" sz="7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377440"/>
          <a:ext cx="51206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731520"/>
                <a:gridCol w="731520"/>
                <a:gridCol w="731520"/>
                <a:gridCol w="731520"/>
                <a:gridCol w="73152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Sev \ Prob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A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B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C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D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E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1E293B"/>
                          </a:solidFill>
                        </a:rPr>
                        <a:t>1 - Catastrófica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91B1B"/>
                          </a:solidFill>
                        </a:rPr>
                        <a:t>1A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91B1B"/>
                          </a:solidFill>
                        </a:rPr>
                        <a:t>1B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991B1B"/>
                          </a:solidFill>
                        </a:rPr>
                        <a:t>1C (1)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A3412"/>
                          </a:solidFill>
                        </a:rPr>
                        <a:t>1D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854D0E"/>
                          </a:solidFill>
                        </a:rPr>
                        <a:t>1E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1E293B"/>
                          </a:solidFill>
                        </a:rPr>
                        <a:t>2 - Crítica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91B1B"/>
                          </a:solidFill>
                        </a:rPr>
                        <a:t>2A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991B1B"/>
                          </a:solidFill>
                        </a:rPr>
                        <a:t>2B (1)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9A3412"/>
                          </a:solidFill>
                        </a:rPr>
                        <a:t>2C (1)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854D0E"/>
                          </a:solidFill>
                        </a:rPr>
                        <a:t>2D (1)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854D0E"/>
                          </a:solidFill>
                        </a:rPr>
                        <a:t>2E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1E293B"/>
                          </a:solidFill>
                        </a:rPr>
                        <a:t>3 - Moderada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91B1B"/>
                          </a:solidFill>
                        </a:rPr>
                        <a:t>3A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A3412"/>
                          </a:solidFill>
                        </a:rPr>
                        <a:t>3B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854D0E"/>
                          </a:solidFill>
                        </a:rPr>
                        <a:t>3C (1)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854D0E"/>
                          </a:solidFill>
                        </a:rPr>
                        <a:t>3D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6534"/>
                          </a:solidFill>
                        </a:rPr>
                        <a:t>3E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1E293B"/>
                          </a:solidFill>
                        </a:rPr>
                        <a:t>4 - Menor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9A3412"/>
                          </a:solidFill>
                        </a:rPr>
                        <a:t>4A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854D0E"/>
                          </a:solidFill>
                        </a:rPr>
                        <a:t>4B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854D0E"/>
                          </a:solidFill>
                        </a:rPr>
                        <a:t>4C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6534"/>
                          </a:solidFill>
                        </a:rPr>
                        <a:t>4D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6534"/>
                          </a:solidFill>
                        </a:rPr>
                        <a:t>4E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1E293B"/>
                          </a:solidFill>
                        </a:rPr>
                        <a:t>5 - Insignificante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854D0E"/>
                          </a:solidFill>
                        </a:rPr>
                        <a:t>5A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854D0E"/>
                          </a:solidFill>
                        </a:rPr>
                        <a:t>5B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6534"/>
                          </a:solidFill>
                        </a:rPr>
                        <a:t>5C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6534"/>
                          </a:solidFill>
                        </a:rPr>
                        <a:t>5D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66534"/>
                          </a:solidFill>
                        </a:rPr>
                        <a:t>5E (0)</a:t>
                      </a:r>
                      <a:endParaRPr lang="en-US" sz="7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731520" y="4005072"/>
            <a:ext cx="5120640" cy="41148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22960" y="4023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Faixas de Risco: 🔴 Crítico (P1) | 🟠 Alto (P2) | 🟡 Médio (P3) | 🟢 Baixo (P4)</a:t>
            </a:r>
            <a:endParaRPr lang="en-US" sz="75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1124712"/>
                <a:gridCol w="950976"/>
                <a:gridCol w="850392"/>
                <a:gridCol w="23774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Faixa de Risco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Classificação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Qtd Ocorrências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Diretriz Regulatória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Crítico (15 - 25)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Vermelho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Contenção mandatória em 24h + Envolvimento da Diretoria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Alto (10 - 14)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Laranja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Investigação profunda de causa + Ação em 48h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Médio (5 - 9)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Amarelo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Tratamento via fluxo padrão F 001-29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Baixo (1 - 4)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Registro documental e lição aprendida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6126480" y="3785616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263640" y="387705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6263640" y="4105656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IMEDIATO: 2 desvio(s) atingiram a zona vermelha crítica da Matriz 5x5.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ocorrência(s) classificadas como Risco Alto (P2), com planos corretivos em acompanhamento diário.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Avaliação inicial de risco registrada no formulário F 001-29 de cada RNC.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7 • SEGURANÇA OPERACIONAL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5x5 — DETALHAMENTO DE DESVIOS CRÍTICOS E ALTOS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Relação nominal das ocorrências posicionadas nas zonas vermelha e laranja de risco operacional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DESVIOS EM ANÁLISE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RNCs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CRÍTICOS NO LOTE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ALTOS NO LOTE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BARREIRA CONTENÇÃO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Mandatória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377440"/>
          <a:ext cx="10698480" cy="914400"/>
        </p:xfrm>
        <a:graphic>
          <a:graphicData uri="http://schemas.openxmlformats.org/drawingml/2006/table">
            <a:tbl>
              <a:tblPr/>
              <a:tblGrid>
                <a:gridCol w="905256"/>
                <a:gridCol w="905256"/>
                <a:gridCol w="941832"/>
                <a:gridCol w="896112"/>
                <a:gridCol w="1783080"/>
                <a:gridCol w="526694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Código RNC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Severidade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Probabilidade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Setor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Contenção Imediata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05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Grau 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2C (Alto)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 - Manutenção / Calibração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Realizar levantamento imediato de todos os equipamentos com certificado de calibração vencido nas bases de REC, POA e CWB. Bloquear o uso físico de itens não conformes.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Grau 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B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2B (Crítico)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 - Manutenção / Calibração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Retirada imediata do torquímetro e segregação na área de quarentena. Levantamento das ordens de serviço executadas na semana.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Grau 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1C (Crítico)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Suprimentos / Almoxarifado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Instalação imediata de gaiola trancada com chave exclusiva para quarentena e peças sucateadas com identificação vermelha.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Cruzamento de Severidade x Probabilidade na coleção de Não Conformidades.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8 • ANÁLISE CAUSAL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INVESTIGAÇÃO DE CAUSAS RAÍZES (ISHIKAWA 6M)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Mapeamento real das causas identificadas via Diagrama de Causa e Efeito e 5 Porquês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CAUSAS MAPEADAS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FAMÍLIA MÉTODO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Processos e instruções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FAMÍLIA MÃO DE OBRA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Treinamento e atenção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MÁQUINA &amp; MATERIAL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Ferramental e insumos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768096"/>
                <a:gridCol w="731520"/>
                <a:gridCol w="220370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Família do 6M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Causas Identificadas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Representação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Foco de Bloqueio Recomendado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Método (Processo / Instrução)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Revisão de cartas de trabalho e procedimentos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Mão de Obra (Capacitação / Fator Humano)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Reciclagem técnica e treinamento em Fatores Humanos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Máquina (Ferramenta / Equipamento)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Plano de calibração e manutenção preventiva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Material (Peças / Insumos)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Qualificação de fornecedores e controle de recebimento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Meio Ambiente &amp; Medição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Iluminação, organização e instrumentos aferidos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4041648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413308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4361688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metodológica baseada no Diagrama de Causa e Efeito (6M) integrado com a técnica dos 5 Porquês.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Mapeamento preventivo: identificar fatores latentes que antecedem o erro ativo na linha de manutenção.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Análise de Causa Raiz preenchida nas RNCs (/organizations/{orgId}/nonConformities).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9 • AÇÕES CORRETIVAS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PLANOS DE AÇÃO CORRETIVA (5W2H) &amp; PONTUALIDADE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Execução física dos planos de ação e cumprimento de prazos regulatórios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AÇÕES MAPEADAS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CONCLUÍDAS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ATRASADAS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PONTUALIDADE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1563624"/>
                <a:gridCol w="850392"/>
                <a:gridCol w="850392"/>
                <a:gridCol w="203911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 do Plano 5W2H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Quantidade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do Total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Impacto Regulatório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Ações Concluídas no Prazo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Conformidade e saneamento em dia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Ações Concluídas com Sucesso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Prontas para validação de eficácia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Ações com Prazo Vencido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Risco de não conformidade em auditoria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Ações a Vencer em 7 Dias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Monitoramento preventivo prioritário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3785616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387705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4105656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de 5 ações corretivas planejadas já foram implementadas pelas áreas responsáveis.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Cobrança ativa mandatória sobre 2 ação(ões) corretiva(s) que ultrapassaram o prazo acordado.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Campo acaoCorretiva de cada Não Conformidade auditada no Firestore.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10 • EFICÁCIA DA QUALIDADE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EFICÁCIA DAS AÇÕES &amp; BLOQUEIO DE REINCIDÊNCIA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Comprovação da eliminação da causa raiz após período de quarentena técnica (30-60 dias)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EFICÁCIA COMPROVADA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AÇÕES EFICAZES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REABERTAS (INEFICAZES)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QUARENTENA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1627632"/>
                <a:gridCol w="667512"/>
                <a:gridCol w="813816"/>
                <a:gridCol w="21945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Dimensão de Eficácia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Situação Atual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Representação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Tratativa Regulatória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Eficazes (Causa Eliminada)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Arquivamento com lição aprendida consolidada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Ineficazes (Desvio Reincidente)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Reabertura imediata e nova investigação 5 Porquês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 Quarentena Técnica (Pendente)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Acompanhamento em campo por 30 a 60 dias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Taxa de Reincidência de Falha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Monitoramento semântico contínuo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3785616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387705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4105656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RNC(s) concluíram com sucesso o período de observação e comprovaram a não reincidência do desvio.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ações declaradas ineficazes: todas as soluções implementadas demonstraram alta capacidade de bloqueio.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Campo verificacaoEficacia extraído do repositório auditado.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11 • COMPETÊNCIAS &amp; EFETIVO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PESSOAS, COMPETÊNCIAS &amp; STATUS OPERACIONAL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Quadro executivo de distribuição estatística do efetivo por status operacional e governança de aptidão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DE COLABORADORES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Efetivo monitorado no SGQ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COLABORADORES ATIVOS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do efetivo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TREINAMENTO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Capacitação supervisionada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RESTRIÇÃO / AFASTADOS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restrições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996696"/>
                <a:gridCol w="1060704"/>
                <a:gridCol w="758952"/>
                <a:gridCol w="248716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Quantidade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Diretriz Regulatória / Escala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Ativo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Apto para atuação e liberação operacional plena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 treinamento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Supervisão técnica contínua e integração no hangar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Restrito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Atuação limitada por condição médica ou técnica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Suspenso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Bloqueio cautelar preventivo de liberação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Afastado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Licença médica ou previdenciária temporária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Inativo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Inativo / Histórico preservado para rastreabilidade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Não informado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Requer classificação cadastral no SGQ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Efetivo total registrado no SGQ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4809744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490118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5129784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efetivo cadastrado conta com 0 colaboradores monitorados pelo SGQ.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técnico(s) encontram-se em status ATIVO (0%), com prontidão operacional plena.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Módulo de Pessoas, Competências &amp; CHTs (/organizations/{orgId}/persons).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12 • COMPETÊNCIAS &amp; EFETIVO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DISTRIBUIÇÃO DO EFETIVO POR ESPECIALIDADE &amp; PRONTIDÃO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 estatísticos agregados por área técnica, capacidade de atendimento e governança RBAC 145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ESPECIALIDADES MAPEADAS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Áreas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Estratificação técnica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PRONTIDÃO OPERACIONAL GERAL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técnicos ativos para liberação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TREINAMENTO SUPERVISIO...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Capacitação prática em andamento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RESTRIÇÕES / BLOQUEIOS AT...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restrições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1627632"/>
                <a:gridCol w="685800"/>
                <a:gridCol w="594360"/>
                <a:gridCol w="768096"/>
                <a:gridCol w="685800"/>
                <a:gridCol w="94183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Especialidade / Função Técnica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Efetivo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Ativos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 Treinamento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 Restrição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Taxa de Prontidão (%)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Mecânico de Linha CHT GMP/CEL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Inspetor da Qualidade / NDT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Técnico em Aviônica CHT AVI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Mecânico Júnior Linha de Voo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3785616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387705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4105656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Efetivo técnico monitorado estruturado em 4 especialidades operacionais com rastreabilidade formal.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Taxa global de prontidão técnica de 85%, garantindo cobertura contínua dos turnos de manutenção.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Estatísticas consolidadas do Módulo de Pessoas, Competências &amp; CHTs (/organizations/{orgId}/persons).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13 • COMPETÊNCIAS TÉCNICAS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VIGÊNCIA DE TREINAMENTOS E CHTs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Validade de carteiras técnicas de manutenção aeronáutica, qualificações de tipo e reciclagens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HABILITAÇÕES VÁLIDAS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CHTs e Treinamentos vigentes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VENCER (≤30 DIAS)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Abertura de turmas prioritária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HABILITAÇÕES VENCIDAS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Bloqueio preventivo ativado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TAXA DE CONFORMIDADE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 de prontidão regulatória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1490472"/>
                <a:gridCol w="777240"/>
                <a:gridCol w="713232"/>
                <a:gridCol w="740664"/>
                <a:gridCol w="713232"/>
                <a:gridCol w="8686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Especialidade / Função Técnica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Monitorado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Vigentes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Vencer (≤30d)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Vencidos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Índice de Prontidão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Corpo Técnico Operacional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3017520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310896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333756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Conformidade da matriz de treinamento e habilitações calculada em 75%.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OPERACIONAL: 10 curso(s) ou CHT(s) encontram-se vencidos, exigindo reciclagem/renovação mandatória.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Módulo de Pessoas, Competências &amp; CHTs (FASE 9) e Central de Vencimentos.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14 • CONTROLE DOCUMENTAL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GOVERNANÇA DOCUMENTAL E MANUAIS REGULATÓRIOS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Vigência, controle de revisões e rastreabilidade dos manuais de procedimentos da organização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MANUAIS AUDITADOS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MANUAIS VIGENTES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REVISÃO BIENAL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 DE VIGÊNCIA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704088"/>
                <a:gridCol w="2084832"/>
                <a:gridCol w="1033272"/>
                <a:gridCol w="841248"/>
                <a:gridCol w="6400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Código do Manual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Denominação do Documento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Revisão Vigente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Aprovação Regulatória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Situação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MOE / MPM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 de Procedimentos da Organização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Rev. 14 (Jan/2026)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Aprovado ANAC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Vigente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MGSO / SGSO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 de Gerenciamento da Segurança Operacional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Rev. 08 (Nov/2025)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Homologado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Vigente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MQ / MQO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 da Garantia da Qualidade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Rev. 11 (Out/2025)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Interno SGQ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Vigente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 de Treinamento e Capacitação Técnica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Rev. 06 (Ago/2025)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Aprovado ANAC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Vigente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 de Controle de Manutenção &amp; Ferramental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Rev. 09 (Dez/2025)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Interno SGQ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 Revisão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4041648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413308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4361688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Manuais de procedimentos mantidos com controle rigoroso de histórico de revisões e aprovação formal.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Existe(m) 10 documento(s) com revisão bienal ou atualização técnica em elaboração.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Coleções /manuals e /documentosControlados (FASE 10).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15 • METROLOGIA &amp; FERRAMENTAL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METROLÓGICA, FERRAMENTAL &amp; CONTA DE CRÉDITOS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 estrito de calibração RBC, validade metrológica, saldo de créditos, ferramentas vencidas e laudos (RBAC 145.109)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DE INSTRUMENTOS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1545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Acervo Metrológico RBAC...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2532888" y="1261872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1335024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CALIBRADAS (EM DIA)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2606040" y="1517904"/>
            <a:ext cx="1545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06040" y="1883664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 Aptas / Conformes RBC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4334256" y="1261872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07408" y="1335024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VENCER NO MÊS (≤30D)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4407408" y="1517904"/>
            <a:ext cx="1545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07408" y="1883664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Aferição em Agendamento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6135624" y="1261872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08776" y="1335024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FERRAMENTAS VENCIDAS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6208776" y="1517904"/>
            <a:ext cx="1545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08776" y="1883664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Segregadas / Uso Bloqueado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7936992" y="1261872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10144" y="1335024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LAUDOS RBC ANEXADOS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8010144" y="1517904"/>
            <a:ext cx="1545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010144" y="1883664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 Laudos Vinculados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9738360" y="1261872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11512" y="1335024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SALDO MÉDIO DE CRÉDITO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9811512" y="1517904"/>
            <a:ext cx="1545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142 dias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811512" y="1883664"/>
            <a:ext cx="1545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Validade Média Restante</a:t>
            </a:r>
            <a:endParaRPr lang="en-US" sz="650" dirty="0"/>
          </a:p>
        </p:txBody>
      </p:sp>
      <p:graphicFrame>
        <p:nvGraphicFramePr>
          <p:cNvPr id="30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576072"/>
                <a:gridCol w="685800"/>
                <a:gridCol w="1106424"/>
                <a:gridCol w="576072"/>
                <a:gridCol w="786384"/>
                <a:gridCol w="758952"/>
                <a:gridCol w="81381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Código / Tag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PN / Modelo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Descrição do Instrumento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Próxima Calibração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 de Crédito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Certificado RBC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Situação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TQ-023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STAHLWILLE 730N/20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Torquímetro de Estalo 20-100 Nm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2026-11-15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+30d (8%)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CERT-RBC-2025/1102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⚠️ A Vencer (≤30d)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MULT-004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FLUKE 87V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Multímetro Digital True-RMS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2026-12-10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+55d (15%)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CERT-RBC-2025/1245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🟡 Atenção (≤60d)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MAN-012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WIKA 232.50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Manômetro de Pressão Hidráulica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2026-10-28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+12d (7%)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CERT-RBC-2026/0488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⚠️ A Vencer (≤30d)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PAQ-001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MITUTOYO 500-196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Paquímetro Digital 150mm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2027-01-20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+96d (26%)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CERT-RBC-2026/0112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 Em Dia (Apta)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MIC-003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MITUTOYO 293-240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Micrômetro Externo 0-25mm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2026-10-05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-11d (Vencida - Bloqueada)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CERT-RBC-2025/1033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🚨 Vencida (Segregada)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TORQ-009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SNAP-ON QD3RN350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Torquímetro de Estalo 70-350 Nm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2026-09-15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-31d (Vencida - Bloqueada)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CERT-RBC-2025/0912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🚨 Vencida (Segregada)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32" name="Shape 28"/>
          <p:cNvSpPr/>
          <p:nvPr/>
        </p:nvSpPr>
        <p:spPr>
          <a:xfrm>
            <a:off x="6126480" y="4297680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6263640" y="438912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6263640" y="461772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Rastreabilidade metrológica ininterrupta à Rede Brasileira de Calibração (RBC / Inmetro / NIST) conforme RB...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 Estrito de Ferramentas Vencidas: 1 instrumento(s) com calibração vencida (crédito esgotado), imedi...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Módulo de Ferramentas &amp; Metrologia Operacional (Coleção /calibrated_tools) e Registro de Aferições RBC.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16 • AUDITORIAS EXTERNAS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AUDITORIAS DA QUALIDADE &amp; CONSTATAÇÕES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Desempenho em auditorias regulatórias (ANAC, EASA, FAA, Clientes) e saneamento de findings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AUDITORIAS REALIZADAS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Prontidão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DE CONSTATAÇÕES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Maiores | 0 Menores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TAXA DE SANEAMENTO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Saneadas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PENDÊNCIAS MAIORES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1307592"/>
                <a:gridCol w="777240"/>
                <a:gridCol w="1143000"/>
                <a:gridCol w="207568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Classificação do Achado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Quantidade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Prazo Médio Resposta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Exigência Regulatória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Não Conformidade Maior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Até 10 dias corridos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Plano de ação formal + evidência comprobatória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Não Conformidade Menor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Até 30 dias corridos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Ação corretiva com análise de causa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Observação de Auditoria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Até 45 dias corridos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Medida preventiva de melhoria contínua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Oportunidade de Melhoria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Revisão periódica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Avaliação de incorporação aos manuais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3785616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387705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4105656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Nenhuma auditoria externa pendente no período; organização mantém protocolo de prontidão contínua.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constatações abertas perante órgãos homologadores ou clientes de manutenção.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Coleções /externalAudits e /auditFindings gerenciadas pelo módulo FASE 8.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17 • ATENÇÃO IMEDIATA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PRINCIPAIS PONTOS DE ATENÇÃO &amp; FATORES CRÍTICOS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Priorização de vulnerabilidades operacionais baseada em Risco, Prazos Atrasados e Vencimentos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PONTOS CRÍTICOS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FATOR TOP 1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Crítico P1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 DE ESCALADA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Comitê SGQ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DE RESPOSTA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Imediato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1344168"/>
                <a:gridCol w="850392"/>
                <a:gridCol w="1261872"/>
                <a:gridCol w="184708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Fator Crítico de Atenção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Severidade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Impacto Operacional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Ação Obrigatória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Desvios com Risco Crítico (P1)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Crítica (Vermelho)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Segurança de voo e aeronave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Contenção em 24h e reunião com Diretoria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Ações Corretivas em Atraso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Alta (Laranja)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Auditorias regulatórias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Cobrança do responsável e novo marco temporal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Treinamentos e CHTs Vencidos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Alta (Laranja)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Validade da liberação técnica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Agendamento imediato de reciclagem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Ocorrências Reincidentes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Controlada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Ineficácia do SGQ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Revisão da análise de causas pelo Comitê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3785616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387705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4105656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RNC(s) com Risco Crítico (P1) exigem barreira de contenção mandatória.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Plano(s) de ação corretiva 5W2H com prazo regulatório extrapolado.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Filtro cruzado de riscos, alertas e prazos do QualiGest SGQ.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18 • PLANO DE RESPOSTA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DE PRIORIZAÇÃO IMEDIATA &amp; DECISÕES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Fila executiva de ações e decisões imediatas requeridas da Diretoria e Liderança da Qualidade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AÇÕES PRIORITÁRIAS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DECISÕES DA DIRETORIA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Requeridas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FÓRMULA DE PRIORIDADE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x Atraso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PRAZO LIMITE DECISÃO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 horas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1389888"/>
                <a:gridCol w="1014984"/>
                <a:gridCol w="585216"/>
                <a:gridCol w="585216"/>
                <a:gridCol w="172821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 / Ocorrência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Área Responsável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Criticidade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Prazo Limite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Decisão Requerida da Gestão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Contenção de RNCs com Risco P1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Gerência de Manutenção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Máxima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 horas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Homologar barreira técnica de contenção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Cobrança de Ações Corretivas Atrasadas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Liderança dos Setores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 horas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Repactuar cronograma e alocar apoio operacional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Reciclagem de CHTs Vencidas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Recursos Humanos / DHO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 horas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Liberar agenda de instrutor credenciado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Revisão Bienal de Manuais (MCM)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Engenharia de Manutenção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Média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dias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Encaminhar protocolo formal de revisão à ANAC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Homologação de Eficácia Pendente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Garantia da Qualidade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Média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dias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Auditar ausência de reincidência e arquivar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4041648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413308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4361688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Matriz de Priorização Imediata organiza as pendências em uma fila de decisão executiva inegociável.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Decisão 1: Aprovação de recursos extraordinários para regularização de reciclagens técnicas de mecânicos.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Algoritmo de Priorização Operacional do QualiGest SGQ.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19 • ECOSSISTEMA &amp; INTEGRAÇÃO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ECOSSISTEMA INTEGRADO DO QUALIGEST SGQ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os dados se conectam: da exigência regulatória à melhoria contínua sem silos operacionais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ETAPAS INTEGRADAS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Fases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circular ininterrupto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SILOS OPERACIONAIS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compartilhados em tempo real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RASTREABILIDADE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requisito ao indicador final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SEGREGAÇÃO DE DADOS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Blindagem Firestore corporativa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731520" y="2377440"/>
            <a:ext cx="5120640" cy="3794760"/>
          </a:xfrm>
          <a:prstGeom prst="roundRect">
            <a:avLst>
              <a:gd name="adj" fmla="val 192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25146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Cadeia Circular Contínua do QualiGest SGQ (15 Fases)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2880360"/>
            <a:ext cx="475488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Requisito Cliente: 1</a:t>
            </a:r>
            <a:endParaRPr lang="en-US" sz="8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Aplicabilidade: 2</a:t>
            </a:r>
            <a:endParaRPr lang="en-US" sz="8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Processo: 3</a:t>
            </a:r>
            <a:endParaRPr lang="en-US" sz="8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Documento Vigente: 4</a:t>
            </a:r>
            <a:endParaRPr lang="en-US" sz="8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Pessoa / CHT: 5</a:t>
            </a:r>
            <a:endParaRPr lang="en-US" sz="8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Metrologia RBC: 6</a:t>
            </a:r>
            <a:endParaRPr lang="en-US" sz="8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950976"/>
                <a:gridCol w="1325880"/>
                <a:gridCol w="1380744"/>
                <a:gridCol w="16459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Elo da Cadeia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Origem do Dado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Destino / Impacto Sistêmico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Garantia QualiGest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Requisitos &amp; Contratos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Clientes / ANAC / EASA (Fase 13)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Controles Centrais SGQ &amp; Cockpit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Arquitetura "Um Controle, Vários Requisitos"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Acervo Documental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Manuais AMM/CMM/MOE (Fase 10)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Consulta Temporal na Data da 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Controle rigoroso de revisões e leitura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Pessoa &amp; Habilitação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Matriz de Competências &amp; CHT (Fase 9)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Execução Técnica no Hangar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Impedimento de atuação com CHT vencida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Metrologia &amp; Ferramental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RBC &amp; Certificados (Fase 11)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Liberação de Ordens de Serviço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 corrente de créditos e quarentena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Desvio / Finding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Auditoria Externa ou Hangar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Ficha Oficial de RNC F 001-29 (Fase 1)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Notificação e contenção imediata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Investigação Causal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Ishikawa 6M &amp; 5 Porquês (Fase 4)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Plano de Ação Corretiva 5W2H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Foco na causa raiz sistêmica, não no sintoma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Eficácia Comprovada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Auditoria de Seguimento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 de Conhecimento N1 a N5 (Fase 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Incorporação como lição aprendida corporativa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i="1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Exibindo 7 de 9 registros (+ 2 omitidos)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6126480" y="4782312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63640" y="487375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263640" y="5102352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CADEIA INTEGRADA VIVA: Requisito de Cliente → Aplicabilidade &amp; Processo → Documento &amp; Revisão → Pessoa &amp; ...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Eliminação total de silos: Uma exigência contratual alimenta o controle central, reflete na qualificação do...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Arquitetura Integrada do QualiGest SGQ (Fases 1 a 15).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20 • MATURIDADE DO SGQ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RÉGUA OFICIAL DE MATURIDADE DO SGQ (NÍVEIS 1 A 5)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do estágio de maturidade corporativa da organização baseado em evidências reais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NÍVEL ATUAL SGQ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NÍVEL 3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 Operacional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CURTO PRAZO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NÍVEL 4 PLENO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Horizonte 90 dias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ESTRATÉGICA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NÍVEL 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Inteligência Preditiva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PILARES AUDITADOS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Fases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Conformes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731520" y="2377440"/>
            <a:ext cx="5120640" cy="3794760"/>
          </a:xfrm>
          <a:prstGeom prst="roundRect">
            <a:avLst>
              <a:gd name="adj" fmla="val 192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25146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Régua de Maturidade do SGQ (N1 a N5)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2880360"/>
            <a:ext cx="475488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N1 - Registro: Totalmente Atingido</a:t>
            </a:r>
            <a:endParaRPr lang="en-US" sz="8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N2 - Controle: Totalmente Atingido</a:t>
            </a:r>
            <a:endParaRPr lang="en-US" sz="8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N3 - Integração: Consolidado</a:t>
            </a:r>
            <a:endParaRPr lang="en-US" sz="8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N4 - Prevenção: Consolidado</a:t>
            </a:r>
            <a:endParaRPr lang="en-US" sz="8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N5 - Inteligência: Ativo &amp; Em Expansão</a:t>
            </a:r>
            <a:endParaRPr lang="en-US" sz="8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649224"/>
                <a:gridCol w="1316736"/>
                <a:gridCol w="1161288"/>
                <a:gridCol w="2176272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de Maturidade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Denominação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 no QualiGest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Critério Chave Atendido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Registro &amp; Conformidade Básica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Totalmente Atingido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Ficha Oficial F 001-29 digitalizada e auditável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Controle &amp; Metodologia Causal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Totalmente Atingido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Ishikawa 6M, 5 Porquês e Planos 5W2H ativos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Integração &amp; Gestão Sem Silos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Consolidado (Fases 8 a 11)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Conexão viva entre RNCs, Manuais, CHTs, Metrologia e Auditorias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Prevenção &amp; Auditoria por Exceção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Consolidado (Fase 13)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Resolução por Exceção, motor sgqHealth e Alertas Preditivos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Nível 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Inteligência, Smart Import &amp; ADRs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🟡 Em Expansão (Fases 14 e 15)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Mapeamento por IA, Diff de Reconciliação, Undo e System Designer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6126480" y="4041648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63640" y="413308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263640" y="4361688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NÍVEL 1 (Registro): 100% implementado — Todos os desvios são registrados formalmente via F 001-29 com numer...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NÍVEL 2 (Controle): 100% implementado — Metodologias 5W2H, Ishikawa 6M, 5 Porquês e Matriz 5x5 aplicadas co...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Diagnóstico calculado a partir dos dados reais do QualiGest SGQ.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21 • STATUS SISTÊMICO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FUNCIONALIDADES E STATUS DE HOMOLOGAÇÃO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Classificação rigorosa dos módulos: Implementado, Em Homologação, Planejado e Futuro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MÓDULOS HOMOLOGADOS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Fases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100% Produção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CONECTORES MRO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Ativos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MRO API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INTEGRAÇÕES ERP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Expansão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Conectores H2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REGRESSÃO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Blindagem garantida</a:t>
            </a:r>
            <a:endParaRPr lang="en-US" sz="7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31520" y="23774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49808"/>
                <a:gridCol w="978408"/>
                <a:gridCol w="156362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Módulo / Capacidade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 de Homologação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Estágio de Uso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Garantia de Segurança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Fluxo Digital de Não Conformidades (F 001-29)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IMPLEMENTADO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Uso Operacional Pleno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Totalmente auditável com hash Firestore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Matriz de Risco Aeronáutico 5x5 &amp; 6M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IMPLEMENTADO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Uso Operacional Pleno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Regras estritas de validação causal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Gestão de Pessoas, Competências &amp; CHTs (Fase 9)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IMPLEMENTADO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Uso Operacional Pleno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Alerta automático e bloqueio de liberação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Governança Documental &amp; Consulta Temporal (Fase 10)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IMPLEMENTADO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Uso Operacional Pleno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Controle de histórico e data da OS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Metrologia, Ferramental &amp; Créditos RBC (Fase 11)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IMPLEMENTADO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Uso Operacional Pleno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Rastreabilidade de laudos e quarentena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Apresentação Gerencial Integrada 70/30 (Fase 12)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HOMOLOGADO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 e PPTX Widescreen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Espelho fiel e auto-fit geométrico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Auditoria por Requisitos &amp; Resolução por Exceção (Fase 13)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IMPLEMENTADO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Uso Operacional Pleno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Control, Multiple Requirements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i="1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Exibindo 7 de 10 registros (+ 3 omitidos)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6126480" y="4782312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63640" y="487375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263640" y="5102352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Transparência executiva: distinção clara entre o que já está homologado e o que está em expansão ou planejado.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FASES 1 A 15 IMPLEMENTADAS &amp; HOMOLOGADAS: F 001-29, 6M/5W2H, Pessoas/CHTs, Documentos com Consulta Tempo...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Matriz de Homologação e Ciclo de Releases do QualiGest SGQ (Fases 1 a 15).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22 • ROADMAP ESTRATÉGICO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ESTRATÉGICO DO QUALIGEST SGQ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Horizontes de evolução contínua, compromissos de desenvolvimento e marcos de conformidade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HORIZONTES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Fases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Curto, Médio, Longo e Futuro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FASES 1 A 15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Ativas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Implementado e Homologado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PRÓXIMA ENTREGA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Integrações ERP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Horizonte II em curso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REGRESSÃO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Garantido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Blindagem de funcionalidades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731520" y="2377440"/>
            <a:ext cx="5120640" cy="3794760"/>
          </a:xfrm>
          <a:prstGeom prst="roundRect">
            <a:avLst>
              <a:gd name="adj" fmla="val 192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25146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Horizontes de Evolução Tecnológica do QualiGest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2880360"/>
            <a:ext cx="475488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H1: Core Fases 1-15: 100% Implementado</a:t>
            </a:r>
            <a:endParaRPr lang="en-US" sz="8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H2: ERPs &amp; Conectores: Em Homologação</a:t>
            </a:r>
            <a:endParaRPr lang="en-US" sz="8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H3: Predição ATA 100: Planejado</a:t>
            </a:r>
            <a:endParaRPr lang="en-US" sz="85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H4: Ecossistema Global: Futuro</a:t>
            </a:r>
            <a:endParaRPr lang="en-US" sz="8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377440"/>
          <a:ext cx="5303520" cy="914400"/>
        </p:xfrm>
        <a:graphic>
          <a:graphicData uri="http://schemas.openxmlformats.org/drawingml/2006/table">
            <a:tbl>
              <a:tblPr/>
              <a:tblGrid>
                <a:gridCol w="1655064"/>
                <a:gridCol w="676656"/>
                <a:gridCol w="649224"/>
                <a:gridCol w="232257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Fase do Roadmap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Horizonte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Objetivo Estratégico &amp; Impacto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Horizonte I — Core Consolidado (Fases 1 a 15)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Atual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Implementado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RNCs, Pessoas, Manuais, Metrologia, Auditoria por Exceção, ADRs e Smart Import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Horizonte II — Conectores ERP &amp; MRO Connect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Curto/Médio Prazo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🟡 Em Andamento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Integração bidirecional com SAP, Totvs, Quantum e Diários Eletrônicos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Horizonte III — SGQ Preditivo &amp; Frota ATA 100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Médio/Longo Prazo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🔵 Planejado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Modelagem probabilística de falhas, confiabilidade e alertas AD/DA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Horizonte IV — Ecossistema Global Inter-MRO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Longo Prazo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⚪ Futuro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Rede colaborativa de lições aprendidas e benchmarking regulatório anonimizado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6126480" y="3785616"/>
            <a:ext cx="530352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63640" y="387705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Diretriz e Ação Recomendada SGQ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263640" y="4105656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HORIZONTE 1 (Curto Prazo — Consolidado): Fases 1 a 15 100% operacionais — Ficha F 001-29, 6M/5W2H, Pessoas/...</a:t>
            </a:r>
            <a:endParaRPr lang="en-US" sz="800" dirty="0"/>
          </a:p>
          <a:p>
            <a:pPr marL="342900" indent="-342900">
              <a:lnSpc>
                <a:spcPts val="1300"/>
              </a:lnSpc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HORIZONTE 2 (Médio Prazo — Em Andamento): Expansão dos Conectores ERP/MRO (Impacto MRO API, SAP, Totvs, Qua...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Roadmap Estratégico e Planejamento Tecnológico do QualiGest SGQ (Fases 1 a 15).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23 • CONCLUSÃO &amp; DIRETRIZES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CONCLUSÃO EXECUTIVA E DIRETRIZES DA QUALIDADE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Parecer da Garantia da Qualidade, compromissos para os próximos 30 dias e princípios do QualiGest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CONFORMIDADE GERAL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 ATENÇÃO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AÇÕES PRIORITÁRIAS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Diretrizes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30 dias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DE REVISÃO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Próxima Reunião em 30d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FILOSOFIA SGQ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Atrito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 com fluidez</a:t>
            </a:r>
            <a:endParaRPr lang="en-US" sz="7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377440"/>
          <a:ext cx="10698480" cy="914400"/>
        </p:xfrm>
        <a:graphic>
          <a:graphicData uri="http://schemas.openxmlformats.org/drawingml/2006/table">
            <a:tbl>
              <a:tblPr/>
              <a:tblGrid>
                <a:gridCol w="3035808"/>
                <a:gridCol w="3145536"/>
                <a:gridCol w="1069848"/>
                <a:gridCol w="344728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Diretriz Estratégica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Responsável Designado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Prazo Limite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Evidência Requerida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Saneamento de Ações Atrasadas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Gerente de Manutenção / Qualidade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dias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Plano 5W2H concluído e evidência no SGQ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Reciclagem de Treinamentos/CHTs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Recursos Humanos / DHO Técnico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dias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Certificado de curso emitido e anexado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Homologação de Eficácia de RNCs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Inspetor Chefe / Garantia da Qualidade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dias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Formulário F 001-29 assinado e arquivado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Parecer Oficial da Garantia da Qualidade e Diretoria Técnica.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24 • AUDITORIA &amp; METADADOS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31520" y="475488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 DOS DADOS E RASTREABILIDADE DO RELATÓRIO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896112"/>
            <a:ext cx="10698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Evidências de auditoria, ambiente de banco de dados, certificação auto-fit e metadados de emissão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0467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5186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VERSÃO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2501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v2.8.0-enterprise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2501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 DE DADOS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624535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Firestore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892540" y="1261872"/>
            <a:ext cx="253746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5692" y="133502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 DE INTEGRIDADE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965692" y="1517904"/>
            <a:ext cx="23911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QG-552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5692" y="1883664"/>
            <a:ext cx="23911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 contínuo</a:t>
            </a:r>
            <a:endParaRPr lang="en-US" sz="7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377440"/>
          <a:ext cx="10698480" cy="914400"/>
        </p:xfrm>
        <a:graphic>
          <a:graphicData uri="http://schemas.openxmlformats.org/drawingml/2006/table">
            <a:tbl>
              <a:tblPr/>
              <a:tblGrid>
                <a:gridCol w="4791456"/>
                <a:gridCol w="590702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Parâmetro de Auditoria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Especificação no Sistema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Módulo Emissor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QualityPresentationGenerator (FASE 12.2 Consolidada)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Perfil do Usuário Emissor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Auditor SGQ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Mecanismo de Persistência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Firestore Enterprise Multi-Tenant Seguro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Segurança de Chaves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Server-side isolation (Node.js Express / process.env.GEMINI_API_KEY)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Trilha de Auditoria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Immutable Append-Only Audit Trail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Conformidade Auto-Fit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Homologado — 0 Overflows ou Colisões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QualiGest SGQ v2.8.0 | Organização: Impacto Aviation MRO | Fonte: Metadados do sistema, trilhas de auditoria e configurações do projeto.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2026-10-16T09:19:40Z</dcterms:created>
  <dcterms:modified xsi:type="dcterms:W3CDTF">2026-10-16T09:19:40Z</dcterms:modified>
</cp:coreProperties>
</file>