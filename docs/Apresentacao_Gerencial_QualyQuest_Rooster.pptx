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VISÃO GERAL DO SGQ (MACRO-INDICADORES)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SGQ Health</c:v>
                  </c:pt>
                  <c:pt idx="1">
                    <c:v>Resolução RNCs</c:v>
                  </c:pt>
                  <c:pt idx="2">
                    <c:v>Pontualidade 5W2H</c:v>
                  </c:pt>
                  <c:pt idx="3">
                    <c:v>Eficácia Compro...</c:v>
                  </c:pt>
                  <c:pt idx="4">
                    <c:v>Vigência CHTs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</c:v>
                </c:pt>
                <c:pt idx="1">
                  <c:v>40</c:v>
                </c:pt>
                <c:pt idx="2">
                  <c:v>60</c:v>
                </c:pt>
                <c:pt idx="3">
                  <c:v>100</c:v>
                </c:pt>
                <c:pt idx="4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PANORAMA E FUNIL DE RNCs (FLUXO F 001-29)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1. Identificação</c:v>
                  </c:pt>
                  <c:pt idx="1">
                    <c:v>2. Causa Raiz</c:v>
                  </c:pt>
                  <c:pt idx="2">
                    <c:v>3. Ação 5W2H</c:v>
                  </c:pt>
                  <c:pt idx="3">
                    <c:v>4. Eficácia</c:v>
                  </c:pt>
                  <c:pt idx="4">
                    <c:v>5. Encerradas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DE RNCs POR SETOR OPERACIONAL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REC - Manutençã...</c:v>
                  </c:pt>
                  <c:pt idx="1">
                    <c:v>Engenharia / Pu...</c:v>
                  </c:pt>
                  <c:pt idx="2">
                    <c:v>Treinamento / R...</c:v>
                  </c:pt>
                  <c:pt idx="3">
                    <c:v>Suprimentos / A...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RNCs CRÍTICAS E PENDÊNCIAS RELEVANTES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Crítico (P1)</c:v>
                  </c:pt>
                  <c:pt idx="1">
                    <c:v>Alto (P2)</c:v>
                  </c:pt>
                  <c:pt idx="2">
                    <c:v>Médio (P3)</c:v>
                  </c:pt>
                  <c:pt idx="3">
                    <c:v>Baixo (P4)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INVESTIGAÇÃO DE CAUSAS RAÍZES (ISHIKAWA 6M)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Método</c:v>
                  </c:pt>
                  <c:pt idx="1">
                    <c:v>Mão de Obra</c:v>
                  </c:pt>
                  <c:pt idx="2">
                    <c:v>Máquina</c:v>
                  </c:pt>
                  <c:pt idx="3">
                    <c:v>Material</c:v>
                  </c:pt>
                  <c:pt idx="4">
                    <c:v>Meio Ambiente</c:v>
                  </c:pt>
                  <c:pt idx="5">
                    <c:v>Medição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PLANOS DE AÇÃO CORRETIVA (5W2H) &amp; PONTUALIDADE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Concluídas</c:v>
                  </c:pt>
                  <c:pt idx="1">
                    <c:v>Em Andamento</c:v>
                  </c:pt>
                  <c:pt idx="2">
                    <c:v>Atrasadas</c:v>
                  </c:pt>
                  <c:pt idx="3">
                    <c:v>A Vencer 7d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EFICÁCIA DAS AÇÕES &amp; BLOQUEIO DE REINCIDÊNCIA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Eficazes</c:v>
                </c:pt>
                <c:pt idx="1">
                  <c:v>Ineficazes (Rea...</c:v>
                </c:pt>
                <c:pt idx="2">
                  <c:v>Em Quarentena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PESSOAS, COMPETÊNCIAS &amp; STATUS OPERACIONAL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Ativo</c:v>
                </c:pt>
                <c:pt idx="1">
                  <c:v>Em Treinamento</c:v>
                </c:pt>
                <c:pt idx="2">
                  <c:v>Restrito</c:v>
                </c:pt>
                <c:pt idx="3">
                  <c:v>Suspenso</c:v>
                </c:pt>
                <c:pt idx="4">
                  <c:v>Outros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DO EFETIVO POR ESPECIALIDADE &amp; PRONTIDÃO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Mecânico</c:v>
                  </c:pt>
                  <c:pt idx="1">
                    <c:v>Inspetor de Qua...</c:v>
                  </c:pt>
                  <c:pt idx="2">
                    <c:v>Almoxarife</c:v>
                  </c:pt>
                  <c:pt idx="3">
                    <c:v>Técnico de Plan...</c:v>
                  </c:pt>
                  <c:pt idx="4">
                    <c:v>Técnico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VIGÊNCIA DE TREINAMENTOS E CHTs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Válidos</c:v>
                  </c:pt>
                  <c:pt idx="1">
                    <c:v>A Vencer (≤30d)</c:v>
                  </c:pt>
                  <c:pt idx="2">
                    <c:v>Vencidos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0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GOVERNANÇA DOCUMENTAL E MANUAIS REGULATÓRIOS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Vigentes</c:v>
                </c:pt>
                <c:pt idx="1">
                  <c:v>Em Revisão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</c:v>
                </c:pt>
                <c:pt idx="1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GESTÃO METROLÓGICA, FERRAMENTAL &amp; CONTA DE CRÉDITOS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AB308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Crédito Regular...</c:v>
                </c:pt>
                <c:pt idx="1">
                  <c:v>Atenção (31-60d)</c:v>
                </c:pt>
                <c:pt idx="2">
                  <c:v>A Vencer no Mês...</c:v>
                </c:pt>
                <c:pt idx="3">
                  <c:v>Ferramentas Ven...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AUDITORIAS DA QUALIDADE &amp; CONSTATAÇÕES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NC Maior</c:v>
                </c:pt>
                <c:pt idx="1">
                  <c:v>NC Menor</c:v>
                </c:pt>
                <c:pt idx="2">
                  <c:v>Observação</c:v>
                </c:pt>
                <c:pt idx="3">
                  <c:v>Oportunidade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PRINCIPAIS PONTOS DE ATENÇÃO &amp; FATORES CRÍTICOS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Risco P1</c:v>
                  </c:pt>
                  <c:pt idx="1">
                    <c:v>Ações Atrasadas</c:v>
                  </c:pt>
                  <c:pt idx="2">
                    <c:v>CHTs Vencidas</c:v>
                  </c:pt>
                  <c:pt idx="3">
                    <c:v>Reincidências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6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MATRIZ DE PRIORIZAÇÃO IMEDIATA &amp; DECISÕES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Criticidade Máx...</c:v>
                  </c:pt>
                  <c:pt idx="1">
                    <c:v>Alta Criticidad...</c:v>
                  </c:pt>
                  <c:pt idx="2">
                    <c:v>Média Criticida...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FUNCIONALIDADES E STATUS DE HOMOLOGAÇÃO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Implementado / ...</c:v>
                  </c:pt>
                  <c:pt idx="1">
                    <c:v>Em Homologação ...</c:v>
                  </c:pt>
                  <c:pt idx="2">
                    <c:v>Pendente (Emula...</c:v>
                  </c:pt>
                  <c:pt idx="3">
                    <c:v>Planejado (Road...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GERENCIAL DA QUALIDADE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 Executivo da Garantia da Qualidade Aeronáutica e Segurança Operacional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0360152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Aviation MRO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AUDITADO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Geral Consolidado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TÉCNICO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722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Alysson Rabelo - Responsáve...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EMISSÃO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27/10/2026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62179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v2.8.0-enterprise | Documento Oficial Auditável | RBAC 145 / ISO 9001:2015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• VISÃO EXECUTIVA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SGQ (MACRO-INDICADORES)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global da integridade sistêmica, desvios operacionais e exposição a risco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SGQ HEALTH INDEX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ATENCAO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Abertas | 2 Encerradas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REAL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validadas com sucesso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CRÍTICOS (P1)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≥ 15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185416"/>
                <a:gridCol w="850392"/>
                <a:gridCol w="850392"/>
                <a:gridCol w="1417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Macro-Indicador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Mínima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Executiva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SGQ Health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Resolução de RNCs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75%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Pontualidade Planos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de Treinamentos/CHTs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de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Documental de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Pendente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Geral de Saúde do SGQ calculado em 86%, com status classificado como "ATENCAO".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dos desvios foram saneados e formalmente encerrados no fluxo F 001-29.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Cálculo automatizado pelo motor sgqHealthEvaluator sobre as coleções reais do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• PROCESSO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E FUNIL DE RNCs (FLUXO F 001-29)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das Não Conformidades por fase normativa do formulário oficial de desvios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INVESTIGAÇÃO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AÇÃO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ENCERRADAS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093976"/>
                <a:gridCol w="822960"/>
                <a:gridCol w="896112"/>
                <a:gridCol w="1490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 do Fluxo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de SLA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Identificação &amp;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24h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Análise Causa Raiz (Ishikawa/5P)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5 dias úteis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Plano de Ação 5W2H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 prazo acordado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Aguardando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a 60 dias pós-ação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Concluídas e Encerradas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Arquivo regulatório definitivo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total de 5 desvios registrados, 2 (40%) cumpriram todo o ciclo até o encerramento.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RNC(s) encontram-se na fase preliminar de identificação, contenção imediata e investigação de causas.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Coleção /organizations/{orgId}/nonConformities auditada em tempo real.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• DISTRIBUIÇÃO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RNCs POR SETOR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Incidência de não conformidades por departamento técnico e oficinas de hangar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MAPEADOS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MAIS DEMANDADO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 - Manutenção / Calibração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DO SETOR TOP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RNCs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Controle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883664"/>
                <a:gridCol w="914400"/>
                <a:gridCol w="941832"/>
                <a:gridCol w="15636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(RNCs)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Prioritária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/ Publicações Técnicas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/ RH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dos desvios: o setor com maior incidência é "REC - Manutenção / Calibração" com 2 ocorrência(s).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estratificação setorial permite direcionar auditorias internas focadas e supervisão técnica reforçada.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Campo setor de cada registro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• CASOS CRÍTICOS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RNCs CRÍTICAS E PENDÊNCIAS RELEVANTES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Detalhamento das ocorrências de maior impacto operacional e status de contenção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Execução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585216"/>
                <a:gridCol w="1691640"/>
                <a:gridCol w="1115568"/>
                <a:gridCol w="585216"/>
                <a:gridCol w="740664"/>
                <a:gridCol w="5852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Título / Descrição do Desvio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 Auditoria FAA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Ferramentas Especiais - Base CWB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Obrigatório de Fatores Humanos em Atraso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/ RH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Aguardando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Segregação Inadequada de Peças Sucateadas no Almoxarifado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Encerrada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2026-07-25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EXECUTIVO: 2 desvio(s) foram classificados com Risco Crítico e exigem reporte à Diretoria.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Ocorrências com severidade ≥ 4 exigem bloqueio físico de componentes ou aeronave até homologação de liberação.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Classificação de Severidade x Probabilidade do formulário F 001-29.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RISCOS &amp; MATRIZ AERONÁUTICA 5x5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de Ocorrência segundo diretrizes do SGSO /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Prob. ≥ 15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10 a 14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MÉDIO (P3)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5 a 9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BAIXO (P4)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 a 4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731520"/>
                <a:gridCol w="731520"/>
                <a:gridCol w="731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Sev \ Prob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1 - Catastrófica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</a:rPr>
                        <a:t>1C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1D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1E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2 - Crítica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2A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</a:rPr>
                        <a:t>2B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A3412"/>
                          </a:solidFill>
                        </a:rPr>
                        <a:t>2C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54D0E"/>
                          </a:solidFill>
                        </a:rPr>
                        <a:t>2D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2E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3 - Moderada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3A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3B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54D0E"/>
                          </a:solidFill>
                        </a:rPr>
                        <a:t>3C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3D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3E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4 - Menor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4A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5 - Insignificante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31520" y="4005072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de Risco: 🔴 Crítico (P1) | 🟠 Alto (P2) | 🟡 Médio (P3) | 🟢 Baixo (P4)</a:t>
            </a:r>
            <a:endParaRPr lang="en-US" sz="7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124712"/>
                <a:gridCol w="950976"/>
                <a:gridCol w="850392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Faixa de Risco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Qtd 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 (15 - 25)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Vermelho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mandatória em 24h + Envolvimento da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 (10 - 14)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Laranja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profunda de causa + Ação em 48h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 (5 - 9)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Amarelo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Tratamento via fluxo padrão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 (1 - 4)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documental e lição aprendida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IMEDIATO: 2 desvio(s) atingiram a zona vermelha crítica da Matriz 5x5.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ocorrência(s) classificadas como Risco Alto (P2), com planos corretivos em acompanhamento diário.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Avaliação inicial de risco registrada no formulário F 001-29 de cada RNC.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05256"/>
                <a:gridCol w="905256"/>
                <a:gridCol w="941832"/>
                <a:gridCol w="896112"/>
                <a:gridCol w="1783080"/>
                <a:gridCol w="52669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• ANÁLISE CAUSAL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INVESTIGAÇÃO DE CAUSAS RAÍZES (ISHIKAWA 6M)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real das causas identificadas via Diagrama de Causa e Efeito e 5 Porquês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MÉTODO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e instruções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MÃO DE OBRA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e atenção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&amp; MATERIAL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Ferramental e insumos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68096"/>
                <a:gridCol w="731520"/>
                <a:gridCol w="22037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Família do 6M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Causas Identificadas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de Bloqueio Recomendado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(Processo / Instrução)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de cartas de trabalho e procedimentos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Mão de Obra (Capacitação / Fator Humano)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técnica e treinamento em Fatores Humanos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Máquina (Ferramenta / Equipamento)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calibração e manutenção preventiva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(Peças / Insumos)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Qualificação de fornecedores e controle de recebimento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Meio Ambiente &amp; Medição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Iluminação, organização e instrumentos aferidos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metodológica baseada no Diagrama de Causa e Efeito (6M) integrado com a técnica dos 5 Porquês.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preventivo: identificar fatores latentes que antecedem o erro ativo na linha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Análise de Causa Raiz preenchida nas RNCs (/organizations/{orgId}/nonConformities).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• AÇÕES CORRETIVAS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DE AÇÃO CORRETIVA (5W2H) &amp; PONTUALIDADE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física dos planos de ação e cumprimento de prazos regulatórios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PONTUALIDADE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563624"/>
                <a:gridCol w="850392"/>
                <a:gridCol w="850392"/>
                <a:gridCol w="20391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do Plano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Regulatório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no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e saneamento em 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com Sucesso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Prontas para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com Prazo Vencido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de não conformidade em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a Vencer em 7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preventivo prioritário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5 ações corretivas planejadas já foram implementadas pelas áreas responsáveis.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ativa mandatória sobre 2 ação(ões) corretiva(s) que ultrapassaram o prazo acordado.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Campo acaoCorretiva de cada Não Conformidade auditada no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• EFICÁCIA DA QUALIDADE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DAS AÇÕES &amp; BLOQUEIO DE REINCIDÊNCIA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Comprovação da eliminação da causa raiz após período de quarentena técnica (30-60 dias)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COMPROVADA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EFICAZES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REABERTAS (INEFICAZES)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QUARENTENA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667512"/>
                <a:gridCol w="813816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Tratativa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Eficazes (Causa Eliminada)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Arquivamento com lição aprendida consolidada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Ineficazes (Desvio Reincidente)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Reabertura imediata e nova investigação 5 Porquês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Quarentena Técnica (Pendente)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em campo por 30 a 60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Reincidência de Falha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semântico contínuo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RNC(s) concluíram com sucesso o período de observação e comprovaram a não reincidência do desvio.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ações declaradas ineficazes: todas as soluções implementadas demonstraram alta capacidade de bloqueio.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Campo verificacaoEficacia extraído do repositório auditado.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PESSOAS, COMPETÊNCIAS &amp; STATUS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executivo de distribuição estatística do efetivo por status operacional e governança de aptidão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COLABORADORES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monitorado no SGQ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 ATIVOS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do efetivo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supervisionada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RESTRIÇÃO / AFASTADOS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Bloqueio preventivo ativo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96696"/>
                <a:gridCol w="1060704"/>
                <a:gridCol w="758952"/>
                <a:gridCol w="24871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 / Escala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Apto para atuação e liberação operacional plena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Supervisão técnica contínua e integração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Atuação limitada por condição médica ou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Suspenso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Bloqueio cautelar preventivo de liberação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Afastado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Licença médica ou previdenciária temporária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 / Histórico preservado para rastreabilidade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informado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Requer classificação cadastral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Efetivo total registrado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809744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9011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2978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efetivo cadastrado conta com 6 colaboradores monitorados pelo SGQ.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técnico(s) encontram-se em status ATIVO (67%), com prontidão operacional plena.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EFETIVO POR ESPECIALIDADE &amp; PRONTIDÃO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estatísticos agregados por área técnica, capacidade de atendimento e governança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Especialidades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Estratificação técnica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PRONTIDÃO OPERACIONAL GERAL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técnicos ativos para liberação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 SUPERVISIO...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prática em andamento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/ BLOQUEIOS AT...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Bloqueio preventivo de assinaturas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40664"/>
                <a:gridCol w="649224"/>
                <a:gridCol w="832104"/>
                <a:gridCol w="740664"/>
                <a:gridCol w="101498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Efetivo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 Restrição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Prontidão (%)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de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Almoxarife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 de Planejamento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técnico monitorado estruturado em 5 especialidades operacionais com rastreabilidade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global de prontidão técnica de 67%, garantindo cobertura contínua dos turnos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Estatísticas consolidadas do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• COMPETÊNCIAS TÉCNICAS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 DE TREINAMENTOS E CHTs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de carteiras técnicas de manutenção aeronáutica, qualificações de tipo e reciclagens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VÁLIDAS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CHTs e Treinamentos vigentes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(≤30 DIAS)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turmas prioritária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VENCIDAS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Bloqueio preventivo ativado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CONFORMIDADE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prontidão regulatória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289304"/>
                <a:gridCol w="813816"/>
                <a:gridCol w="749808"/>
                <a:gridCol w="786384"/>
                <a:gridCol w="749808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Monitorado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Prontidão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de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Almoxarife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529584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62102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384962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da matriz de treinamento e habilitações calculada em 44%.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OPERACIONAL: 9 curso(s) ou CHT(s) encontram-se vencidos, exigindo reciclagem/renovação mandatória.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Módulo de Pessoas, Competências &amp; CHTs (FASE 9) e Central de Vencimentos.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• CONTROLE DOCUMENTAL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DOCUMENTAL E MANUAIS REGULATÓRIOS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Vigência, controle de revisões e rastreabilidade dos manuais de procedimentos da organização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AUDITADOS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VIGENTES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REVISÃO BIENAL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VIGÊNCIA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704088"/>
                <a:gridCol w="2084832"/>
                <a:gridCol w="1033272"/>
                <a:gridCol w="841248"/>
                <a:gridCol w="640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do Manual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 do Documento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Aprovação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MOE / MPM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Procedimentos da Organização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14 (Jan/2026)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MGSO / SGSO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Gerenciamento da Segurança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08 (Nov/2025)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MQ / MQO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da 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11 (Out/2025)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Treinamento e Capacitação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06 (Ago/2025)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Controle de Manutenção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09 (Dez/2025)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Revisão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de procedimentos mantidos com controle rigoroso de histórico de revisões e aprovação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Existe(m) 2 documento(s) com revisão bienal ou atualização técnica em elaboração.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Coleções /manuals e /documentosControlados (FASE 10).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• METROLOGIA &amp; FERRAMENTAL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METROLÓGICA, FERRAMENTAL &amp; CONTA DE CRÉDITOS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calibração RBC, validade metrológica, saldo de créditos, ferramentas vencidas e laudos (RBAC 145.109)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INSTRUMENTOS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Acervo Metrológico RBAC...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532888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CALIBRADAS (EM DIA)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606040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Aptas / Conformes RBC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334256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NO MÊS (≤30D)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407408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07408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Aferição em Agendamento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135624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VENCIDAS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208776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08776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Segregadas / Uso Bloqueado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936992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LAUDOS RBC ANEXADOS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010144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10144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Laudos Vinculados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73836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151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MÉDIO DE CRÉDITO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981151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dias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1151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Média Restante</a:t>
            </a:r>
            <a:endParaRPr lang="en-US" sz="6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667512"/>
                <a:gridCol w="1179576"/>
                <a:gridCol w="576072"/>
                <a:gridCol w="786384"/>
                <a:gridCol w="740664"/>
                <a:gridCol w="777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/ Tag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 / Modelo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 do Instrumento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Próxima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de Crédito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RBC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BAL-002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ME204T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Balança Analítica de Precisão 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-73d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RBC-BAL-2025-412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MAN-012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ADTS 405 MkII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Manômetro Diferencial de Press...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CAL-PITOT-7761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MULT-004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Fluke 87V MAX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Multímetro Digital True-RMS Au...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2027-01-15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+80d (22%)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CAL-87V-2026-091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Em Dia (Apta)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TQ-023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MANOSKOP 730/10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Estalo 20 a 100...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2027-02-10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+106d (29%)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CERT-RBC-88219/2026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Em Dia (Apta)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TQ-041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QD1R200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Alta Precisão 4...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2027-02-11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+107d (29%)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CERT-RBC-88220/2026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Em Dia (Apta)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MIC-008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QuantuMike 293-140-30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Micrômetro Externo 0-25mm Reso...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2027-03-20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+144d (39%)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CERT-RBC-90412/2026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Em Dia (Apta)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metrológica ininterrupta à Rede Brasileira de Calibração (RBC / Inmetro / NIST) conforme RB...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Ferramentas Vencidas: 2 instrumento(s) com calibração vencida (crédito esgotado), imedi...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Módulo de Ferramentas &amp; Metrologia Operacional (Coleção /calibrated_tools) e Registro de Aferições RBC.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 • AUDITORIAS EXTERNAS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DA QUALIDADE &amp; CONSTATAÇÕES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 em auditorias regulatórias (ANAC, EASA, FAA, Clientes) e saneamento de findings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REALIZADAS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CONSTATAÇÕES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Maiores | 2 Menores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SANEAMENTO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Saneadas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PENDÊNCIAS MAIORES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777240"/>
                <a:gridCol w="1143000"/>
                <a:gridCol w="20756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 do Achado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Médio Resposta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Exigência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Maior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10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formal + evidência comprobatória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Menor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30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corretiva com análise de causa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Observação de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45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Medida preventiva de melhoria contínua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Oportunidade de Melhoria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periódica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de incorporação aos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2 auditoria(s) com 1 processos completamente encerrados perante os auditores.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de 4 constatações: 1 Maior(es), 2 Menor(es), 1 Observação(ões).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Coleções /externalAudits e /auditFindings gerenciadas pelo módulo FASE 8.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 • ATENÇÃO IMEDIATA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PONTOS DE ATENÇÃO &amp; FATORES CRÍTICOS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de vulnerabilidades operacionais baseada em Risco, Prazos Atrasados e Vencimentos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CRÍTICOS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 TOP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P1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ESCALADA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SGQ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Imediato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44168"/>
                <a:gridCol w="850392"/>
                <a:gridCol w="1261872"/>
                <a:gridCol w="18470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Fator Crítico de Atenção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Obrigatória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Desvios com Risco Crítico (P1)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Crítica (Vermelho)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voo e aeronave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em 24h e reunião com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Corretivas em Atraso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(Laranja)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Auditorias regulatórias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do responsável e novo marco temporal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Treinamentos e CHTs 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(Laranja)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Validade da liberação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Agendamento imediato de reciclagem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Reincidentes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Ineficácia do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da análise de causas pelo Comitê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RNC(s) com Risco Crítico (P1) exigem barreira de contenção mandatória.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Plano(s) de ação corretiva 5W2H com prazo regulatório extrapolado.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Filtro cruzado de riscos, alertas e prazos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 • PLANO DE RESPOSTA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PRIORIZAÇÃO IMEDIATA &amp; DECISÕES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executiva de ações e decisões imediatas requeridas da Diretoria e Liderança da Qualidade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DA DIRETORIA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Requeridas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DE PRIORIDADE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x Atraso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LIMITE DECISÃO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horas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89888"/>
                <a:gridCol w="1014984"/>
                <a:gridCol w="585216"/>
                <a:gridCol w="585216"/>
                <a:gridCol w="17282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 / Ocorrência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 Responsável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Requerida da Gestão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de RNCs com Risco P1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Gerência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Homologar barreira técnica de contenção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de Ações Corretivas Atrasadas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Liderança dos Setores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Repactuar cronograma e alocar apoio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de CHTs Vencidas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Liberar agenda de instrutor credenciado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Bienal de Manuais (MCM)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Encaminhar protocolo formal de revisão à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Homologação de Eficácia Pendente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Auditar ausência de reincidência e arquivar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Matriz de Priorização Imediata organiza as pendências em uma fila de decisão executiva inegociável.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1: Aprovação de recursos extraordinários para regularização de reciclagens técnicas de mecânicos.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Algoritmo de Priorização Operacional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 • ECOSSISTEMA &amp; INTEGRAÇÃO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ECOSSISTEMA INTEGRADO DO QUALYQUEST SGQ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dados se conectam: da exigência regulatória à melhoria contínua sem silos operacionais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INTEGRADAS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circular ininterrupto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OPERACIONAIS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compartilhados em tempo real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requisito ao indicador final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SEGREGAÇÃO DE DADOS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Firestore corporativa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Circular Contínua do QualyQuest SGQ (15 Fases)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Requisito Cliente: 1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Aplicabilidade: 2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Processo: 3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Documento Vigente: 4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Pessoa / CHT: 5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Metrologia RBC: 6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41832"/>
                <a:gridCol w="1380744"/>
                <a:gridCol w="1362456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Elo da Cadeia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Origem do 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/ Impacto Sistêmico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QualyQuest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Requisitos &amp; Contratos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/ ANAC / EASA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Controles Centrais SGQ &amp; Cockpit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Arquitetura "Um Controle, Vários Requisitos"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Acervo Documental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Manuais AMM/CMM/MOE (Fase 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Temporal na Data da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rigoroso de revisões e leitura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 &amp; Habilitação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Competências &amp; CHT (Rooster MRO)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Execução Técnica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Impedimento de atuação com CHT vencida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RBC &amp; Certificados (Fase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Liberação de Ordens de Serviço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corrente de créditos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/ Finding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Externa ou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de RNC F 001-29 (Fase 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Notificação e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 &amp; 5 Porquês (Fase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Corretiva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na causa raiz sistêmica, não no sintoma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de Seguimento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Conhecimento N1 a N5 (Fase 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Incorporação como lição aprendida corporativa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9 registros (+ 2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INTEGRADA VIVA: Requisito de Cliente → Aplicabilidade &amp; Processo → Documento &amp; Revisão → Pessoa &amp; 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Eliminação total de silos: Uma exigência contratual alimenta o controle central, reflete na qualificação do...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Arquitetura Integrada do QualyQuest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 • MATURIDADE DO SGQ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OFICIAL DE MATURIDADE DO SGQ (NÍVEIS 1 A 5)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estágio de maturidade corporativa da organização baseado em evidências reais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ATUAL SGQ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 Sistêmica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CURTO PRAZO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 PLENO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90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ESTRATÉGICA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Preditiva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AUDITADOS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Conformes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de Maturidade do SGQ (N1 a N5)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N1 - Registro: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N2 - Controle: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N3 - Integração: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N4 - Prevenção: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N5 - Inteligência: Ativo &amp; Em Expansão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630936"/>
                <a:gridCol w="1280160"/>
                <a:gridCol w="1280160"/>
                <a:gridCol w="21122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de Maturidade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no Sistema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 Chave Atendido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&amp; Conformidade Básica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F 001-29 digitalizada e auditável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&amp; Metodologia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6M, 5 Porquês e Planos 5W2H 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&amp; Gestão Sem Silos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(Fases 8 a 11 + Rooster)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Conexão viva entre RNCs, Manuais, CHTs, Metrologia e Auditorias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Prevenção &amp; Auditoria por Exceção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Resolução por Exceção, motor sgqHealth e Alertas Preditivos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Inteligência, Smart Import &amp; ADRs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Expansão (Fases 14 e 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Mapeamento por IA, Diff de Reconciliação, Undo e System Designer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1 (Registro): 100% implementado — Todos os desvios são registrados formalmente via F 001-29 com numer...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2 (Controle): 100% implementado — Metodologias 5W2H, Ishikawa 6M, 5 Porquês e Matriz 5x5 aplicadas co...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Diagnóstico calculado a partir dos dados reais do QualyQuest SGQ.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 • STATUS SISTÊMICO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E STATUS DE HOMOLOGAÇÃO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rigorosa dos módulos: Implementado, Em Homologação, Pendente e Planejado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SGQ + ROOSTER MRO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100% Implementado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API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Teste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/api/impacto/*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REGRAS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 JRE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Emulador Local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H2/H3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SAP / Totvs / ATA100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13816"/>
                <a:gridCol w="1069848"/>
                <a:gridCol w="159105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/ Capacidade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de Homologação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Estágio de Uso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de Segurança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Fluxo Digital de Não Conformidades (F 001-29)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Auditável com hash Firestore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Risco 5x5, 6M e Planos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Regras estritas de validação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Rooster MRO: Pessoas, CHTs e Competências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Mestre Oficial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Alerta automático e bloqueio de aptidão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Rooster MRO: Cursos, Matrizes &amp; Modelos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Mestre Oficial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Requisitos por frota, motor e cargo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Rooster MRO: Central de Vencimentos &amp; Gaps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Mestre Oficial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estados de validade estritos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Governança Documental &amp; Consulta Temporal (OS)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Acervo vigente na data do serviço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Metrologia, Ferramental &amp; Créditos RBC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corrente de créditos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12 registros (+ 5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executiva: distinção inegociável entre o que está implementado, em homologação, pendente de a...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IMPLEMENTADO: QualyQuest SGQ (Fases 1-15) + Rooster MRO (Pessoas, Treinamentos, Cursos por Frota, Matriz...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Matriz de Homologação e Ciclo de Releases do QualyQuest / Rooster MRO.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 • ROADMAP ESTRATÉGICO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ESTRATÉGICO DO QUALYQUEST / ROOSTER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contínua, compromissos de desenvolvimento e marcos de conformidade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a H4 Estruturados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1 A 15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Ativas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 e Homologado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MESTRE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Rooster MRO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Pessoas, Cursos e Validades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REGRESSÃO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de funcionalidades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Tecnológica do Sistema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Core SGQ + Rooster: 100% Implementado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Conectores &amp; ERPs: Em Homologação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Predição ATA 100: Planejado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H4: Ecossistema Global: Futuro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658368"/>
                <a:gridCol w="658368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do Roadmap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Estratégico &amp; Impacto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 — Core SGQ + Rooster MRO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RNCs, Pessoas, Cursos, Matrizes, Vencimentos (5 estados), Manuais na data da OS, Metrologia RBC, Apresentação 70/30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 — Conectores ERP &amp; MRO Connect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Curto/Médio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Homologação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Impacto Connect, integração com SAP, Totvs, Quantum e Diários Eletrônicos (ELB)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III — SGQ Preditivo &amp; Frota ATA 100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Médio/Longo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🔵 Planejado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Modelagem probabilística de falhas, confiabilidade de sistemas e alertas AD/DA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IV — Ecossistema Global Inter-MRO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⚪ Futuro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 colaborativa de lições aprendidas e benchmarking regulatório anonimizado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1 (Curto Prazo — Consolidado): QualyQuest SGQ (Fases 1-15) + Rooster MRO como Sistema Mestre de R...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2 (Médio Prazo — Em Homologação / Andamento): Homologação dos Conectores API `/api/impacto/*`, ex...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Roadmap Estratégico e Planejamento Tecnológico do QualyQuest / Rooster MRO.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 • CONCLUSÃO &amp; DIRETRIZES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EXECUTIVA E DIRETRIZES DA QUALIDADE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Parecer da Garantia da Qualidade, compromissos para os próximos 30 dias e princípios do QualiGest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GERAL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SATISFATÓRIA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Diretrizes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30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REVISÃO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Reunião em 30d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FILOSOFIA SGQ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Atrito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com fluidez</a:t>
            </a:r>
            <a:endParaRPr lang="en-US" sz="7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3035808"/>
                <a:gridCol w="3145536"/>
                <a:gridCol w="1069848"/>
                <a:gridCol w="34472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Estratégica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Responsável Designado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Evidência Requerida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Saneamento de Ações Atrasadas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Gerente de Manutenção /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5W2H concluído e evidência no SGQ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Reciclagem de Treinamentos/CHTs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 Técnico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de curso emitido e anexado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Homologação de Eficácia de RNCs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Chefe / Garantia da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Formulário F 001-29 assinado e arquivado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Parecer Oficial da Garantia da Qualidade e Diretoria Técnica.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24 • AUDITORIA &amp; METADADOS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DOS DADOS E RASTREABILIDADE DO RELATÓRIO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de auditoria, ambiente de banco de dados, certificação auto-fit e metadados de emissão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v2.8.0-enterprise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Firestore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DE INTEGRIDADE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QQ-651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4700016"/>
                <a:gridCol w="59984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Parâmetro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Especificação no Sistema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QualityPresentationGenerator (QualyQuest / Rooster MRO)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do Usuário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Alysson Rabelo - Responsável Técnico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Mecanismo de Persistência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Firestore Enterprise Multi-Tenant Seguro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Chaves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Server-side isolation (Node.js Express / process.env.GEMINI_API_KEY)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Trilha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Immutable Append-Only Audit Trail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Auto-Fit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Homologado — 0 Overflows ou Colisões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QualyQuest / Rooster SGQ v2.8.0 | Organização: Impacto Aviation MRO | Fonte: Metadados do sistema, trilhas de auditoria e configurações do projeto.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2026-10-27T07:53:50Z</dcterms:created>
  <dcterms:modified xsi:type="dcterms:W3CDTF">2026-10-27T07:53:50Z</dcterms:modified>
</cp:coreProperties>
</file>