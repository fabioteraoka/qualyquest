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9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0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5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6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86</c:v>
                </c:pt>
                <c:pt idx="1">
                  <c:v>40</c:v>
                </c:pt>
                <c:pt idx="2">
                  <c:v>60</c:v>
                </c:pt>
                <c:pt idx="3">
                  <c:v>100</c:v>
                </c:pt>
                <c:pt idx="4">
                  <c:v>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REC - Manutençã...</c:v>
                  </c:pt>
                  <c:pt idx="1">
                    <c:v>Engenharia / Pu...</c:v>
                  </c:pt>
                  <c:pt idx="2">
                    <c:v>Treinamento / R...</c:v>
                  </c:pt>
                  <c:pt idx="3">
                    <c:v>Suprimentos / A...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0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3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Mecânico</c:v>
                  </c:pt>
                  <c:pt idx="1">
                    <c:v>Inspetor de Qua...</c:v>
                  </c:pt>
                  <c:pt idx="2">
                    <c:v>Almoxarife</c:v>
                  </c:pt>
                  <c:pt idx="3">
                    <c:v>Técnico de Plan...</c:v>
                  </c:pt>
                  <c:pt idx="4">
                    <c:v>Técnico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</c:v>
                </c:pt>
                <c:pt idx="1">
                  <c:v>0</c:v>
                </c:pt>
                <c:pt idx="2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12</c:v>
                </c:pt>
                <c:pt idx="1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</c:v>
                </c:pt>
                <c:pt idx="1">
                  <c:v>0</c:v>
                </c:pt>
                <c:pt idx="2">
                  <c:v>0</c:v>
                </c:pt>
                <c:pt idx="3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NC Maior</c:v>
                </c:pt>
                <c:pt idx="1">
                  <c:v>NC Menor</c:v>
                </c:pt>
                <c:pt idx="2">
                  <c:v>Observação</c:v>
                </c:pt>
                <c:pt idx="3">
                  <c:v>Oportunidade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6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Pendente (Emula...</c:v>
                  </c:pt>
                  <c:pt idx="3">
                    <c:v>Planejado (Road...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Aviation MRO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Alysson Rabelo - Responsáve...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ATENCAO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Abertas | 2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185416"/>
                <a:gridCol w="850392"/>
                <a:gridCol w="850392"/>
                <a:gridCol w="14173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42816"/>
            <a:ext cx="530352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1596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535424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5 desvios registrados, 2 (40%) cumpriram todo o ciclo até o encerramento.</a:t>
            </a:r>
            <a:endParaRPr lang="en-US" sz="780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encontram-se na fase preliminar de identificação, contenção imediata e investigação...</a:t>
            </a:r>
            <a:endParaRPr lang="en-US" sz="78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 - Manutenção / Calibração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883664"/>
                <a:gridCol w="914400"/>
                <a:gridCol w="941832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950208"/>
            <a:ext cx="530352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02336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242816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"REC - Manutenção / Calibração" com...</a:t>
            </a:r>
            <a:endParaRPr lang="en-US" sz="780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técnic...</a:t>
            </a:r>
            <a:endParaRPr lang="en-US" sz="78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Execução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85216"/>
                <a:gridCol w="1691640"/>
                <a:gridCol w="1115568"/>
                <a:gridCol w="585216"/>
                <a:gridCol w="740664"/>
                <a:gridCol w="585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Pré Auditoria FAA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Ferramentas Especiais - Base CWB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Obrigatório de Fatores Humanos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Aguardando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Segregação Inadequada de Peças Sucateadas no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59936"/>
            <a:ext cx="530352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52544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EXECUTIVO: 2 desvio(s) foram classificados com Risco Crítico e exigem reporte à Diret...</a:t>
            </a:r>
            <a:endParaRPr lang="en-US" sz="780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homolog...</a:t>
            </a:r>
            <a:endParaRPr lang="en-US" sz="78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1C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2B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A3412"/>
                          </a:solidFill>
                        </a:rPr>
                        <a:t>2C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2D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3C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4005072"/>
            <a:ext cx="530352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407822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297680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IMEDIATO: 2 desvio(s) atingiram a zona vermelha crítica da Matriz 5x5.</a:t>
            </a:r>
            <a:endParaRPr lang="en-US" sz="780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ocorrência(s) classificadas como Risco Alto (P2), com planos corretivos em acompanhamento ...</a:t>
            </a:r>
            <a:endParaRPr lang="en-US" sz="78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96112"/>
                <a:gridCol w="1783080"/>
                <a:gridCol w="52669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352544"/>
            <a:ext cx="530352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42569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45152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...</a:t>
            </a:r>
            <a:endParaRPr lang="en-US" sz="780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m...</a:t>
            </a:r>
            <a:endParaRPr lang="en-US" sz="78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950208"/>
            <a:ext cx="530352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02336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242816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5 ações corretivas planejadas já foram implementadas pelas áreas responsáveis.</a:t>
            </a:r>
            <a:endParaRPr lang="en-US" sz="780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ativa mandatória sobre 2 ação(ões) corretiva(s) que ultrapassaram o prazo acordado.</a:t>
            </a:r>
            <a:endParaRPr lang="en-US" sz="78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5W2H — DETALHAMENTO (PARTE 2 DE 2)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detalhada das ações corretivas, responsáveis técnicos, prazos acordados e status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NO LOTE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Ações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DE EXECUÇÃO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 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 GLOBAL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5W2H Auditável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1362456"/>
                <a:gridCol w="5312664"/>
                <a:gridCol w="1636776"/>
                <a:gridCol w="1234440"/>
                <a:gridCol w="11521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(O Quê)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(Quem)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(Quando)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Reforma completa da área de quarentena, etiquetagem em cores padronizadas (Verde/Vermelho/Am...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Marcos Vinicius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Campo acaoCorretiva dos formulários F 001-29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950208"/>
            <a:ext cx="530352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02336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242816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concluíram com sucesso o período de observação e comprovaram a não reincidência do ...</a:t>
            </a:r>
            <a:endParaRPr lang="en-US" sz="780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capacida...</a:t>
            </a:r>
            <a:endParaRPr lang="en-US" sz="78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Bloqueio preventivo ativo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Especialidades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Bloqueio preventivo de assinaturas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40664"/>
                <a:gridCol w="649224"/>
                <a:gridCol w="832104"/>
                <a:gridCol w="740664"/>
                <a:gridCol w="101498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de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Almoxarife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de Planejamento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59936"/>
            <a:ext cx="530352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52544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5 especialidades operacionais com rastreabilidade ...</a:t>
            </a:r>
            <a:endParaRPr lang="en-US" sz="780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67%, garantindo cobertura contínua dos turnos de manuten...</a:t>
            </a:r>
            <a:endParaRPr lang="en-US" sz="78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Bloqueio preventivo ativado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289304"/>
                <a:gridCol w="813816"/>
                <a:gridCol w="749808"/>
                <a:gridCol w="786384"/>
                <a:gridCol w="749808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de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Almoxarife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547872"/>
            <a:ext cx="530352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62102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3840480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44%.</a:t>
            </a:r>
            <a:endParaRPr lang="en-US" sz="780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OPERACIONAL: 9 curso(s) ou CHT(s) encontram-se vencidos, exigindo reciclagem/renovaçã...</a:t>
            </a:r>
            <a:endParaRPr lang="en-US" sz="78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Revisão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42816"/>
            <a:ext cx="530352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1596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535424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aprovação...</a:t>
            </a:r>
            <a:endParaRPr lang="en-US" sz="780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Existe(m) 2 documento(s) com revisão bienal ou atualização técnica em elaboração.</a:t>
            </a:r>
            <a:endParaRPr lang="en-US" sz="78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40664"/>
                <a:gridCol w="1911096"/>
                <a:gridCol w="941832"/>
                <a:gridCol w="841248"/>
                <a:gridCol w="868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Próx.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BAL-002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Balança Analítica de Pre...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-75d (Bloq.)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Diferencial de...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-24d (Bloq.)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True-...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+78d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20...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+104d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Alta Prec...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2027-02-11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+105d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0-25m...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2027-03-20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+142d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Text 28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Maiores | 2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950208"/>
            <a:ext cx="530352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02336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242816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2 auditoria(s) com 1 processos completamente encerrados perante os auditores.</a:t>
            </a:r>
            <a:endParaRPr lang="en-US" sz="780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de 4 constatações: 1 Maior(es), 2 Menor(es), 1 Observação(ões).</a:t>
            </a:r>
            <a:endParaRPr lang="en-US" sz="78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P1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44168"/>
                <a:gridCol w="850392"/>
                <a:gridCol w="1261872"/>
                <a:gridCol w="18470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(Vermelho)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950208"/>
            <a:ext cx="530352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02336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242816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com Risco Crítico (P1) exigem barreira de contenção mandatória.</a:t>
            </a:r>
            <a:endParaRPr lang="en-US" sz="780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Plano(s) de ação corretiva 5W2H com prazo regulatório extrapolado.</a:t>
            </a:r>
            <a:endParaRPr lang="en-US" sz="78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42816"/>
            <a:ext cx="530352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1596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535424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ine...</a:t>
            </a:r>
            <a:endParaRPr lang="en-US" sz="780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...</a:t>
            </a:r>
            <a:endParaRPr lang="en-US" sz="78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QUALYQUEST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QualyQuest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41832"/>
                <a:gridCol w="1380744"/>
                <a:gridCol w="1362456"/>
                <a:gridCol w="16184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QualyQuest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(Rooster MRO)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Arquitetura Integrada do QualyQuest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 Sistêmica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30936"/>
                <a:gridCol w="1280160"/>
                <a:gridCol w="1280160"/>
                <a:gridCol w="211226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Sistema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 + Rooster)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407408"/>
            <a:ext cx="530352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48056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700016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0...</a:t>
            </a:r>
            <a:endParaRPr lang="en-US" sz="780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5...</a:t>
            </a:r>
            <a:endParaRPr lang="en-US" sz="78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Diagnóstico calculado a partir dos dados reais do QualyQuest SGQ.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Pendente e Planejado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+ ROOSTER MRO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Implementado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API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Teste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/api/impacto/*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DE REGRAS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Pendente JRE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🟠 Emulador Local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H2/H3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SAP / Totvs / ATA100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13816"/>
                <a:gridCol w="1069848"/>
                <a:gridCol w="159105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5x5, 6M 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Rooster MRO: Pessoas, CHTs e Competências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Sistema Mestre Oficial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aptidão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Rooster MRO: Cursos, Matrizes &amp; Modelos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Sistema Mestre Oficial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por frota, motor e cargo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Rooster MRO: Central de Vencimentos &amp; Gaps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Sistema Mestre Oficial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estados de validade estritos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vigente na data do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12 registros (+ 5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Matriz de Homologação e Ciclo de Releases do QualyQuest / Rooster MRO.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QUALYQUEST / ROOSTER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a H4 Estruturados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MESTRE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Rooster MRO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Cursos e Validades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Sistema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SGQ + Rooster: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Conectores &amp; ERPs: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17904"/>
                <a:gridCol w="658368"/>
                <a:gridCol w="658368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SGQ + Rooster 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Cursos, Matrizes, Vencimentos (5 estados), Manuais na data da OS, Metrologia RBC, Apresentação 70/30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Impacto Connect, integração com SAP, Totvs, Quantum e Diários Eletrônicos (ELB)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de sistemas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169664"/>
            <a:ext cx="530352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24281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462272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QualyQuest SGQ (Fases 1-15) + Rooster MRO como Sist...</a:t>
            </a:r>
            <a:endParaRPr lang="en-US" sz="780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sz="7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Homologação / Andamento): Homologação dos Conectores API `/api...</a:t>
            </a:r>
            <a:endParaRPr lang="en-US" sz="78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Roadmap Estratégico e Planejamento Tecnológico do QualyQuest / Rooster MRO.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SATISFATÓRIA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25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QQ-651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700016"/>
                <a:gridCol w="599846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(QualyQuest / Rooster MRO)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Alysson Rabelo - Responsável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QualyQuest / Rooster SGQ v2.8.0 | Organização: Impacto Aviation MRO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2026-10-29T08:00:19Z</dcterms:created>
  <dcterms:modified xsi:type="dcterms:W3CDTF">2026-10-29T08:00:19Z</dcterms:modified>
</cp:coreProperties>
</file>