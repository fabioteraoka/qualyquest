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charts/chart65.xml" ContentType="application/vnd.openxmlformats-officedocument.drawingml.chart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charts/chart66.xml" ContentType="application/vnd.openxmlformats-officedocument.drawingml.chart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charts/chart67.xml" ContentType="application/vnd.openxmlformats-officedocument.drawingml.chart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68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69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charts/chart70.xml" ContentType="application/vnd.openxmlformats-officedocument.drawingml.chart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charts/chart71.xml" ContentType="application/vnd.openxmlformats-officedocument.drawingml.chart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charts/chart72.xml" ContentType="application/vnd.openxmlformats-officedocument.drawingml.chart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charts/chart73.xml" ContentType="application/vnd.openxmlformats-officedocument.drawingml.chart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charts/chart74.xml" ContentType="application/vnd.openxmlformats-officedocument.drawingml.chart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charts/chart75.xml" ContentType="application/vnd.openxmlformats-officedocument.drawingml.chart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charts/chart76.xml" ContentType="application/vnd.openxmlformats-officedocument.drawingml.chart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charts/chart77.xml" ContentType="application/vnd.openxmlformats-officedocument.drawingml.chart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charts/chart78.xml" ContentType="application/vnd.openxmlformats-officedocument.drawingml.chart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charts/chart79.xml" ContentType="application/vnd.openxmlformats-officedocument.drawingml.chart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charts/chart80.xml" ContentType="application/vnd.openxmlformats-officedocument.drawingml.chart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/Relationships>
</file>

<file path=ppt/charts/_rels/chart6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5.xlsx"/></Relationships>
</file>

<file path=ppt/charts/_rels/chart6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6.xlsx"/></Relationships>
</file>

<file path=ppt/charts/_rels/chart6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7.xlsx"/></Relationships>
</file>

<file path=ppt/charts/_rels/chart6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8.xlsx"/></Relationships>
</file>

<file path=ppt/charts/_rels/chart6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69.xlsx"/></Relationships>
</file>

<file path=ppt/charts/_rels/chart7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0.xlsx"/></Relationships>
</file>

<file path=ppt/charts/_rels/chart7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1.xlsx"/></Relationships>
</file>

<file path=ppt/charts/_rels/chart7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2.xlsx"/></Relationships>
</file>

<file path=ppt/charts/_rels/chart73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3.xlsx"/></Relationships>
</file>

<file path=ppt/charts/_rels/chart74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4.xlsx"/></Relationships>
</file>

<file path=ppt/charts/_rels/chart75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5.xlsx"/></Relationships>
</file>

<file path=ppt/charts/_rels/chart76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6.xlsx"/></Relationships>
</file>

<file path=ppt/charts/_rels/chart77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7.xlsx"/></Relationships>
</file>

<file path=ppt/charts/_rels/chart78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8.xlsx"/></Relationships>
</file>

<file path=ppt/charts/_rels/chart79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79.xlsx"/></Relationships>
</file>

<file path=ppt/charts/_rels/chart80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80.xlsx"/></Relationships>
</file>

<file path=ppt/charts/chart6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VISÃO GERAL DO SGQ (MACRO-INDICADORES)</c:v>
                </c:pt>
              </c:strCache>
            </c:strRef>
          </c:tx>
          <c:spPr>
            <a:solidFill>
              <a:srgbClr val="1E40A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e40af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059669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284c7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SGQ Health</c:v>
                  </c:pt>
                  <c:pt idx="1">
                    <c:v>Resolução RNCs</c:v>
                  </c:pt>
                  <c:pt idx="2">
                    <c:v>Pontualidade 5W2H</c:v>
                  </c:pt>
                  <c:pt idx="3">
                    <c:v>Eficácia Compro...</c:v>
                  </c:pt>
                  <c:pt idx="4">
                    <c:v>Vigência CHTs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100</c:v>
                </c:pt>
                <c:pt idx="1">
                  <c:v>0</c:v>
                </c:pt>
                <c:pt idx="2">
                  <c:v>100</c:v>
                </c:pt>
                <c:pt idx="3">
                  <c:v>100</c:v>
                </c:pt>
                <c:pt idx="4">
                  <c:v>96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PANORAMA E FUNIL DE RNCs (FLUXO F 001-29)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Sheet1!$A$2:$A$6</c:f>
              <c:multiLvlStrCache>
                <c:ptCount val="5"/>
                <c:lvl>
                  <c:pt idx="0">
                    <c:v>1. Identificação</c:v>
                  </c:pt>
                  <c:pt idx="1">
                    <c:v>2. Causa Raiz</c:v>
                  </c:pt>
                  <c:pt idx="2">
                    <c:v>3. Ação 5W2H</c:v>
                  </c:pt>
                  <c:pt idx="3">
                    <c:v>4. Eficácia</c:v>
                  </c:pt>
                  <c:pt idx="4">
                    <c:v>5. Encerradas</c:v>
                  </c:pt>
                </c:lvl>
              </c:multiLvlStrCache>
            </c:multiLvl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DISTRIBUIÇÃO DE RNCs POR SETOR OPERACIONAL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Hangar</c:v>
                  </c:pt>
                  <c:pt idx="1">
                    <c:v>Motores</c:v>
                  </c:pt>
                  <c:pt idx="2">
                    <c:v>Aviônicos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RNCs CRÍTICAS E PENDÊNCIAS RELEVANTES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ab308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Crítico (P1)</c:v>
                  </c:pt>
                  <c:pt idx="1">
                    <c:v>Alto (P2)</c:v>
                  </c:pt>
                  <c:pt idx="2">
                    <c:v>Médio (P3)</c:v>
                  </c:pt>
                  <c:pt idx="3">
                    <c:v>Baixo (P4)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6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INVESTIGAÇÃO DE CAUSAS RAÍZES (ISHIKAWA 6M)</c:v>
                </c:pt>
              </c:strCache>
            </c:strRef>
          </c:tx>
          <c:spPr>
            <a:solidFill>
              <a:srgbClr val="3B82F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8b5c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06b6d4"/>
              </a:solidFill>
              <a:effectLst/>
            </c:spPr>
          </c:dPt>
          <c:dPt>
            <c:idx val="4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5"/>
            <c:invertIfNegative val="0"/>
            <c:bubble3D val="0"/>
            <c:spPr>
              <a:solidFill>
                <a:srgbClr val="ec4899"/>
              </a:solidFill>
              <a:effectLst/>
            </c:spPr>
          </c:dPt>
          <c:cat>
            <c:multiLvlStrRef>
              <c:f>Sheet1!$A$2:$A$7</c:f>
              <c:multiLvlStrCache>
                <c:ptCount val="6"/>
                <c:lvl>
                  <c:pt idx="0">
                    <c:v>Método</c:v>
                  </c:pt>
                  <c:pt idx="1">
                    <c:v>Mão de Obra</c:v>
                  </c:pt>
                  <c:pt idx="2">
                    <c:v>Máquina</c:v>
                  </c:pt>
                  <c:pt idx="3">
                    <c:v>Material</c:v>
                  </c:pt>
                  <c:pt idx="4">
                    <c:v>Meio Ambiente</c:v>
                  </c:pt>
                  <c:pt idx="5">
                    <c:v>Medição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  <c:pt idx="5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PLANOS DE AÇÃO CORRETIVA (5W2H) &amp; PONTUALIDADE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Concluídas</c:v>
                  </c:pt>
                  <c:pt idx="1">
                    <c:v>Em Andamento</c:v>
                  </c:pt>
                  <c:pt idx="2">
                    <c:v>Atrasadas</c:v>
                  </c:pt>
                  <c:pt idx="3">
                    <c:v>A Vencer 7d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EFICÁCIA DAS AÇÕES &amp; BLOQUEIO DE REINCIDÊNCIA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EF4444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Sheet1!$A$2:$A$4</c:f>
              <c:strCache>
                <c:ptCount val="3"/>
                <c:pt idx="0">
                  <c:v>Eficazes</c:v>
                </c:pt>
                <c:pt idx="1">
                  <c:v>Ineficazes (Rea...</c:v>
                </c:pt>
                <c:pt idx="2">
                  <c:v>Em Quarentena</c:v>
                </c:pt>
              </c:strCache>
            </c:strRef>
          </c:cat>
          <c:val>
            <c:numRef>
              <c:f>Sheet1!$B$2:$B$4</c:f>
              <c:numCache>
                <c:ptCount val="3"/>
                <c:pt idx="0">
                  <c:v>0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PESSOAS, COMPETÊNCIAS &amp; STATUS OPERACIONAL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3B82F6"/>
              </a:solidFill>
              <a:effectLst/>
            </c:spPr>
          </c:dPt>
          <c:dPt>
            <c:idx val="2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bubble3D val="0"/>
            <c:spPr>
              <a:solidFill>
                <a:srgbClr val="EF4444"/>
              </a:solidFill>
              <a:effectLst/>
            </c:spPr>
          </c:dPt>
          <c:dPt>
            <c:idx val="4"/>
            <c:bubble3D val="0"/>
            <c:spPr>
              <a:solidFill>
                <a:srgbClr val="94A3B8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4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Sheet1!$A$2:$A$6</c:f>
              <c:strCache>
                <c:ptCount val="5"/>
                <c:pt idx="0">
                  <c:v>Ativo</c:v>
                </c:pt>
                <c:pt idx="1">
                  <c:v>Em Treinamento</c:v>
                </c:pt>
                <c:pt idx="2">
                  <c:v>Restrito</c:v>
                </c:pt>
                <c:pt idx="3">
                  <c:v>Suspenso</c:v>
                </c:pt>
                <c:pt idx="4">
                  <c:v>Outros</c:v>
                </c:pt>
              </c:strCache>
            </c:strRef>
          </c:cat>
          <c:val>
            <c:numRef>
              <c:f>Sheet1!$B$2:$B$6</c:f>
              <c:numCache>
                <c:ptCount val="5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  <c:pt idx="4">
                  <c:v>0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DISTRIBUIÇÃO DO EFETIVO POR ESPECIALIDADE &amp; PRONTIDÃO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Mecânico de Lin...</c:v>
                  </c:pt>
                  <c:pt idx="1">
                    <c:v>Inspetor da Qua...</c:v>
                  </c:pt>
                  <c:pt idx="2">
                    <c:v>Técnico em Aviô...</c:v>
                  </c:pt>
                  <c:pt idx="3">
                    <c:v>Mecânico Júnior...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</c:v>
                </c:pt>
                <c:pt idx="1">
                  <c:v>1</c:v>
                </c:pt>
                <c:pt idx="2">
                  <c:v>1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VIGÊNCIA DE TREINAMENTOS E CHTs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Válidos</c:v>
                  </c:pt>
                  <c:pt idx="1">
                    <c:v>A Vencer (≤30d)</c:v>
                  </c:pt>
                  <c:pt idx="2">
                    <c:v>Vencidos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72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GOVERNANÇA DOCUMENTAL E MANUAIS REGULATÓRIOS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F59E0B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Sheet1!$A$2:$A$3</c:f>
              <c:strCache>
                <c:ptCount val="2"/>
                <c:pt idx="0">
                  <c:v>Vigentes</c:v>
                </c:pt>
                <c:pt idx="1">
                  <c:v>Em Revisão</c:v>
                </c:pt>
              </c:strCache>
            </c:strRef>
          </c:cat>
          <c:val>
            <c:numRef>
              <c:f>Sheet1!$B$2:$B$3</c:f>
              <c:numCache>
                <c:ptCount val="2"/>
                <c:pt idx="0">
                  <c:v>11</c:v>
                </c:pt>
                <c:pt idx="1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GESTÃO METROLÓGICA, FERRAMENTAL &amp; CONTA DE CRÉDITOS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bubble3D val="0"/>
            <c:spPr>
              <a:solidFill>
                <a:srgbClr val="EAB308"/>
              </a:solidFill>
              <a:effectLst/>
            </c:spPr>
          </c:dPt>
          <c:dPt>
            <c:idx val="2"/>
            <c:bubble3D val="0"/>
            <c:spPr>
              <a:solidFill>
                <a:srgbClr val="F97316"/>
              </a:solidFill>
              <a:effectLst/>
            </c:spPr>
          </c:dPt>
          <c:dPt>
            <c:idx val="3"/>
            <c:bubble3D val="0"/>
            <c:spPr>
              <a:solidFill>
                <a:srgbClr val="EF4444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1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2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dLbl>
              <c:idx val="3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Crédito Regular...</c:v>
                </c:pt>
                <c:pt idx="1">
                  <c:v>Atenção (31-60d)</c:v>
                </c:pt>
                <c:pt idx="2">
                  <c:v>A Vencer no Mês...</c:v>
                </c:pt>
                <c:pt idx="3">
                  <c:v>Ferramentas Ven...</c:v>
                </c:pt>
              </c:strCache>
            </c:strRef>
          </c:cat>
          <c:val>
            <c:numRef>
              <c:f>Sheet1!$B$2:$B$5</c:f>
              <c:numCache>
                <c:ptCount val="4"/>
                <c:pt idx="0">
                  <c:v>38</c:v>
                </c:pt>
                <c:pt idx="1">
                  <c:v>6</c:v>
                </c:pt>
                <c:pt idx="2">
                  <c:v>3</c:v>
                </c:pt>
                <c:pt idx="3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pieChart>
        <c:varyColors val="1"/>
        <c:ser>
          <c:idx val="0"/>
          <c:order val="0"/>
          <c:tx>
            <c:strRef>
              <c:f>Sheet1!$B$1</c:f>
              <c:strCache>
                <c:ptCount val="1"/>
                <c:pt idx="0">
                  <c:v>AUDITORIAS DA QUALIDADE &amp; CONSTATAÇÕES</c:v>
                </c:pt>
              </c:strCache>
            </c:strRef>
          </c:tx>
          <c:spPr>
            <a:solidFill>
              <a:schemeClr val="accent1"/>
            </a:solidFill>
            <a:ln w="9525" cap="flat">
              <a:solidFill>
                <a:srgbClr val="F9F9F9"/>
              </a:solidFill>
              <a:prstDash val="solid"/>
              <a:round/>
            </a:ln>
            <a:effectLst/>
          </c:spPr>
          <c:dPt>
            <c:idx val="0"/>
            <c:bubble3D val="0"/>
            <c:spPr>
              <a:solidFill>
                <a:srgbClr val="10B981"/>
              </a:solidFill>
              <a:effectLst/>
            </c:spPr>
          </c:dPt>
          <c:dLbls>
            <c:dLbl>
              <c:idx val="0"/>
              <c:numFmt formatCode="0%" sourceLinked="0"/>
              <c:spPr/>
              <c:txPr>
                <a:bodyPr/>
                <a:lstStyle/>
                <a:p>
                  <a:pPr>
                    <a:defRPr sz="1200" b="0" i="0" u="none" strike="noStrike">
                      <a:solidFill>
                        <a:srgbClr val="000000"/>
                      </a:solidFill>
                      <a:latin typeface="Arial"/>
                    </a:defRPr>
                  </a:pPr>
                </a:p>
              </c:txPr>
              <c:showLegendKey val="0"/>
              <c:showVal val="0"/>
              <c:showCatName val="0"/>
              <c:showSerName val="0"/>
              <c:showPercent val="1"/>
              <c:showBubbleSize val="0"/>
            </c:dLbl>
            <c:numFmt formatCode="0%" sourceLinked="0"/>
            <c:txPr>
              <a:bodyPr/>
              <a:lstStyle/>
              <a:p>
                <a:pPr>
                  <a:defRPr sz="1800" b="0" i="0" u="none" strike="noStrik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dLblPos val="ctr"/>
            <c:showLegendKey val="0"/>
            <c:showVal val="0"/>
            <c:showCatName val="1"/>
            <c:showSerName val="0"/>
            <c:showPercent val="1"/>
            <c:showBubbleSize val="0"/>
            <c:showLeaderLines val="0"/>
          </c:dLbls>
          <c:cat>
            <c:strRef>
              <c:f>Sheet1!$A$2:$A$2</c:f>
              <c:strCache>
                <c:ptCount val="1"/>
                <c:pt idx="0">
                  <c:v>Sem Constataçõe...</c:v>
                </c:pt>
              </c:strCache>
            </c:strRef>
          </c:cat>
          <c:val>
            <c:numRef>
              <c:f>Sheet1!$B$2:$B$2</c:f>
              <c:numCache>
                <c:ptCount val="1"/>
                <c:pt idx="0">
                  <c:v>1</c:v>
                </c:pt>
              </c:numCache>
            </c:numRef>
          </c:val>
        </c:ser>
        <c:firstSliceAng val="0"/>
      </c:pieChart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75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PRINCIPAIS PONTOS DE ATENÇÃO &amp; FATORES CRÍTICOS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eab308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Risco P1</c:v>
                  </c:pt>
                  <c:pt idx="1">
                    <c:v>Ações Atrasadas</c:v>
                  </c:pt>
                  <c:pt idx="2">
                    <c:v>CHTs Vencidas</c:v>
                  </c:pt>
                  <c:pt idx="3">
                    <c:v>Reincidências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</c:v>
                </c:pt>
                <c:pt idx="1">
                  <c:v>0</c:v>
                </c:pt>
                <c:pt idx="2">
                  <c:v>0</c:v>
                </c:pt>
                <c:pt idx="3">
                  <c:v>0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7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MATRIZ DE PRIORIZAÇÃO IMEDIATA &amp; DECISÕES</c:v>
                </c:pt>
              </c:strCache>
            </c:strRef>
          </c:tx>
          <c:spPr>
            <a:solidFill>
              <a:srgbClr val="EF4444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ef4444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97316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Criticidade Máx...</c:v>
                  </c:pt>
                  <c:pt idx="1">
                    <c:v>Alta Criticidad...</c:v>
                  </c:pt>
                  <c:pt idx="2">
                    <c:v>Média Criticida...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2</c:v>
                </c:pt>
                <c:pt idx="2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8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FUNCIONALIDADES E STATUS DE HOMOLOGAÇÃO</c:v>
                </c:pt>
              </c:strCache>
            </c:strRef>
          </c:tx>
          <c:spPr>
            <a:solidFill>
              <a:srgbClr val="10B981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000000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0b981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f59e0b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3b82f6"/>
              </a:solidFill>
              <a:effectLst/>
            </c:spPr>
          </c:dPt>
          <c:dPt>
            <c:idx val="3"/>
            <c:invertIfNegative val="0"/>
            <c:bubble3D val="0"/>
            <c:spPr>
              <a:solidFill>
                <a:srgbClr val="64748b"/>
              </a:solidFill>
              <a:effectLst/>
            </c:spPr>
          </c:dPt>
          <c:cat>
            <c:multiLvlStrRef>
              <c:f>Sheet1!$A$2:$A$5</c:f>
              <c:multiLvlStrCache>
                <c:ptCount val="4"/>
                <c:lvl>
                  <c:pt idx="0">
                    <c:v>Implementado / ...</c:v>
                  </c:pt>
                  <c:pt idx="1">
                    <c:v>Em Homologação ...</c:v>
                  </c:pt>
                  <c:pt idx="2">
                    <c:v>Planejado (H3)</c:v>
                  </c:pt>
                  <c:pt idx="3">
                    <c:v>Futuro (H4)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15</c:v>
                </c:pt>
                <c:pt idx="1">
                  <c:v>2</c:v>
                </c:pt>
                <c:pt idx="2">
                  <c:v>2</c:v>
                </c:pt>
                <c:pt idx="3">
                  <c:v>2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200" u="none">
                  <a:solidFill>
                    <a:srgbClr val="000000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6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2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3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4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5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6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7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8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79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80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17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228600"/>
          </a:xfrm>
          <a:prstGeom prst="rect">
            <a:avLst/>
          </a:prstGeom>
          <a:solidFill>
            <a:srgbClr val="1E40AF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1645920"/>
            <a:ext cx="10360152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200" kern="0" dirty="0">
                <a:solidFill>
                  <a:srgbClr val="93C5F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914400" y="2103120"/>
            <a:ext cx="10360152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APRESENTAÇÃO GERENCIAL DA QUALIDADE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914400" y="3200400"/>
            <a:ext cx="10360152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BD5E1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Espelho Executivo da Garantia da Qualidade Aeronáutica e Segurança Operacional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914400" y="4114800"/>
            <a:ext cx="10360152" cy="1737360"/>
          </a:xfrm>
          <a:prstGeom prst="roundRect">
            <a:avLst>
              <a:gd name="adj" fmla="val 4211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11430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ORGANIZAÇÃO</a:t>
            </a:r>
            <a:endParaRPr lang="en-US" sz="850" dirty="0"/>
          </a:p>
        </p:txBody>
      </p:sp>
      <p:sp>
        <p:nvSpPr>
          <p:cNvPr id="8" name="Text 6"/>
          <p:cNvSpPr/>
          <p:nvPr/>
        </p:nvSpPr>
        <p:spPr>
          <a:xfrm>
            <a:off x="11430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Nova Empresa Hangar SGQ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PERÍODO AUDITADO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6576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Histórico Geral Consolidado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61722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RESPONSÁVEL TÉCNICO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61722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 em Treinamento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8686800" y="4389120"/>
            <a:ext cx="2423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94A3B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DATA DE EMISSÃO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8686800" y="4709160"/>
            <a:ext cx="2423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10/10/2026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914400" y="6217920"/>
            <a:ext cx="103601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v2.8.0-enterprise | Documento Oficial Auditável | RBAC 145 / ISO 9001:2015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 • VISÃO EXECUTIVA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VISÃO GERAL DO SGQ (MACRO-INDICADORES)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Síntese global da integridade sistêmica, desvios operacionais e exposição a risco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SGQ HEALTH INDEX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BOM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RNCS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Abertas | 0 Encerradas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REAL 5W2H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validadas com sucesso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RISCOS CRÍTICOS (P1)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Probabilidade ≥ 15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249424"/>
                <a:gridCol w="896112"/>
                <a:gridCol w="896112"/>
                <a:gridCol w="12618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Macro-Indicador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Valor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Meta Mínima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Executiva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SGQ Health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Resolução de RNCs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75%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Atenção Requerida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Pontualidade Planos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Eficácia Comprovada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85%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Vigência de Treinamentos/CHTs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96%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≥ 95%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Vigência Documental de Manuais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Adequado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29768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3891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61772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Geral de Saúde do SGQ calculado em 100%, com status classificado como "BOM".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Nenhuma Não Conformidade registrada no período selecionado.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Cálculo automatizado pelo motor sgqHealthEvaluator sobre as coleções reais do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3 • PROCESSO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PANORAMA E FUNIL DE RNCs (FLUXO F 001-29)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das Não Conformidades por fase normativa do formulário oficial de desvios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RNCS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INVESTIGAÇÃO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AÇÃO 5W2H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ENCERRADAS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093976"/>
                <a:gridCol w="822960"/>
                <a:gridCol w="896112"/>
                <a:gridCol w="14904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Etapa do Fluxo F 001-29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 de SLA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Identificação &amp; Contenção Imediata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24h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Análise Causa Raiz (Ishikawa/5P)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5 dias úteis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Plano de Ação 5W2H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Conforme prazo acordado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4. Aguardando Validação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a 60 dias pós-ação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5. Concluídas e Encerradas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Arquivo regulatório definitivo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total de 0 desvios registrados, 0 (0%) cumpriram todo o ciclo até o encerramento.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RNC(s) encontram-se na fase preliminar de identificação, contenção imediata e investigação de causas.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Coleção /organizations/{orgId}/nonConformities auditada em tempo real.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4 • DISTRIBUIÇÃO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DE RNCs POR SETOR OPERACIONAL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Incidência de não conformidades por departamento técnico e oficinas de hangar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SETORES MAPEADOS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SETOR MAIS DEMANDADO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Operações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VOLUME DO SETOR TOP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DISPERSÃO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Sob Controle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874520"/>
                <a:gridCol w="1161288"/>
                <a:gridCol w="1188720"/>
                <a:gridCol w="107899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 (RNCs)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Prioritária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Hangar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Oficina de Motores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Aviônicos &amp; Instrumentos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Almoxarifado Aeronáutico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Concentração dos desvios: o setor com maior incidência é "Operações" com 0 ocorrência(s).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estratificação setorial permite direcionar auditorias internas focadas e supervisão técnica reforçada.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Campo setor de cada registro na coleção de Não Conformidades.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5 • CASOS CRÍTICOS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RNCs CRÍTICAS E PENDÊNCIAS RELEVANTES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Detalhamento das ocorrências de maior impacto operacional e status de contenção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(P1)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 (P2)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ATRASADAS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STATUS CONTENÇÃO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Blindado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722376"/>
                <a:gridCol w="1975104"/>
                <a:gridCol w="731520"/>
                <a:gridCol w="704088"/>
                <a:gridCol w="585216"/>
                <a:gridCol w="5852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RNC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Título / Descrição do Desvio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Setor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RNC-2026-001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de procedimento na inspeção pré-voo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Encerrada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RNC-2026-002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Discrepância documental em ordem de serviço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Encerrada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RNC-2026-003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Calibração de torquímetro expirada no armário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Ferramentaria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529584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621024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3849624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Excelente controle: zero Não Conformidades classificadas na faixa de Risco Crítico no período auditado.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Ocorrências com severidade ≥ 4 exigem bloqueio físico de componentes ou aeronave até homologação de liberação.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Classificação de Severidade x Probabilidade do formulário F 001-29.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6 • SEGURANÇA OPERACIONAL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DE RISCOS &amp; MATRIZ AERONÁUTICA 5x5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Probabilidade de Ocorrência segundo diretrizes do SGSO / RBAC 145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CRÍTICO (P1)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Severidade x Prob. ≥ 15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ALTO (P2)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10 a 14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MÉDIO (P3)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5 a 9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BAIXO (P4)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Score 1 a 4</a:t>
            </a:r>
            <a:endParaRPr lang="en-US" sz="75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5120640" cy="914400"/>
        </p:xfrm>
        <a:graphic>
          <a:graphicData uri="http://schemas.openxmlformats.org/drawingml/2006/table">
            <a:tbl>
              <a:tblPr/>
              <a:tblGrid>
                <a:gridCol w="1463040"/>
                <a:gridCol w="731520"/>
                <a:gridCol w="731520"/>
                <a:gridCol w="731520"/>
                <a:gridCol w="731520"/>
                <a:gridCol w="731520"/>
              </a:tblGrid>
              <a:tr h="256032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Sev \ Prob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172A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A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B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C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D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b="1" dirty="0">
                          <a:solidFill>
                            <a:srgbClr val="FFFFFF"/>
                          </a:solidFill>
                        </a:rPr>
                        <a:t>E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1 - Catastrófica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1C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1D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1E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2 - Crítica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2A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2B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2C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2D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2E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3 - Moderada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91B1B"/>
                          </a:solidFill>
                        </a:rPr>
                        <a:t>3A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E2E2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3B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3C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3D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3E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4 - Menor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9A3412"/>
                          </a:solidFill>
                        </a:rPr>
                        <a:t>4A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EDD5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4B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4C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4D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4E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680" b="1" dirty="0">
                          <a:solidFill>
                            <a:srgbClr val="1E293B"/>
                          </a:solidFill>
                        </a:rPr>
                        <a:t>5 - Insignificante</a:t>
                      </a:r>
                      <a:endParaRPr lang="en-US" sz="68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5A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854D0E"/>
                          </a:solidFill>
                        </a:rPr>
                        <a:t>5B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EF9C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5C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5D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750" dirty="0">
                          <a:solidFill>
                            <a:srgbClr val="166534"/>
                          </a:solidFill>
                        </a:rPr>
                        <a:t>5E (0)</a:t>
                      </a:r>
                      <a:endParaRPr lang="en-US" sz="750" dirty="0"/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CFCE7"/>
                    </a:solidFill>
                  </a:tcPr>
                </a:tc>
              </a:tr>
            </a:tbl>
          </a:graphicData>
        </a:graphic>
      </p:graphicFrame>
      <p:sp>
        <p:nvSpPr>
          <p:cNvPr id="23" name="Shape 20"/>
          <p:cNvSpPr/>
          <p:nvPr/>
        </p:nvSpPr>
        <p:spPr>
          <a:xfrm>
            <a:off x="731520" y="4005072"/>
            <a:ext cx="5120640" cy="411480"/>
          </a:xfrm>
          <a:prstGeom prst="roundRect">
            <a:avLst>
              <a:gd name="adj" fmla="val 1111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822960" y="4023360"/>
            <a:ext cx="4937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Faixas de Risco: 🔴 Crítico (P1) | 🟠 Alto (P2) | 🟡 Médio (P3) | 🟢 Baixo (P4)</a:t>
            </a:r>
            <a:endParaRPr lang="en-US" sz="750" dirty="0"/>
          </a:p>
        </p:txBody>
      </p:sp>
      <p:graphicFrame>
        <p:nvGraphicFramePr>
          <p:cNvPr id="13" name="Table 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124712"/>
                <a:gridCol w="950976"/>
                <a:gridCol w="850392"/>
                <a:gridCol w="237744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Faixa de Risco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Qtd Ocorrências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Crítico (15 - 25)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Vermelho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mandatória em 24h + Envolvimento da Diretoria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Alto (10 - 14)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Laranja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Investigação profunda de causa + Ação em 48h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 (5 - 9)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Amarelo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Tratamento via fluxo padrão F 001-29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Baixo (1 - 4)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Verde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documental e lição aprendida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2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4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 desvio na zona vermelha crítica da Matriz 5x5 durante o período auditado.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ocorrência(s) classificadas como Risco Alto (P2), com planos corretivos em acompanhamento diário.</a:t>
            </a:r>
            <a:endParaRPr lang="en-US" sz="800" dirty="0"/>
          </a:p>
        </p:txBody>
      </p:sp>
      <p:sp>
        <p:nvSpPr>
          <p:cNvPr id="29" name="Text 25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Avaliação inicial de risco registrada no formulário F 001-29 de cada RNC.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7 • ANÁLISE CAUSAL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INVESTIGAÇÃO DE CAUSAS RAÍZES (ISHIKAWA 6M)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real das causas identificadas via Diagrama de Causa e Efeito e 5 Porquês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CAUSAS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Concluído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MÉTODO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Processos e instruções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FAMÍLIA MÃO DE OBRA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Treinamento e atenção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MÁQUINA &amp; MATERIAL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Ferramental e insumos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00200"/>
                <a:gridCol w="768096"/>
                <a:gridCol w="731520"/>
                <a:gridCol w="220370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Família do 6M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Causas Identificadas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de Bloqueio Recomendado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Método (Processo / Instrução)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38%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de cartas de trabalho e procedimentos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Mão de Obra (Capacitação / Fator Humano)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Reciclagem técnica e treinamento em Fatores Humanos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Máquina (Ferramenta / Equipamento)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14%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calibração e manutenção preventiva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Material (Peças / Insumos)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Qualificação de fornecedores e controle de recebimento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Meio Ambiente &amp; Medição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9%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Iluminação, organização e instrumentos aferidos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Análise metodológica baseada no Diagrama de Causa e Efeito (6M) integrado com a técnica dos 5 Porquês.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Mapeamento preventivo: identificar fatores latentes que antecedem o erro ativo na linha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Análise de Causa Raiz preenchida nas RNCs (/organizations/{orgId}/nonConformities).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8 • AÇÕES CORRETIVAS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PLANOS DE AÇÃO CORRETIVA (5W2H) &amp; PONTUALIDADE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Execução física dos planos de ação e cumprimento de prazos regulatórios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CONCLUÍDAS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ATRASADAS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PONTUALIDADE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563624"/>
                <a:gridCol w="850392"/>
                <a:gridCol w="850392"/>
                <a:gridCol w="203911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do Plano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do 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Regulatório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Concluídas no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e saneamento em 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Concluídas com Sucesso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Prontas para validação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com Prazo Vencido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Risco de não conformidade em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a Vencer em 7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Monitoramento preventivo prioritário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de 0 ações corretivas planejadas já foram implementadas pelas áreas responsáveis.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Excelente disciplina de pontualidade: nenhuma ação corretiva encontra-se em atraso.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Campo acaoCorretiva de cada Não Conformidade auditada no Firestore.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9 • EFICÁCIA DA QUALIDADE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DAS AÇÕES &amp; BLOQUEIO DE REINCIDÊNCIA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Comprovação da eliminação da causa raiz após período de quarentena técnica (30-60 dias)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EFICÁCIA COMPROVADA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EFICAZES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REABERTAS (INEFICAZES)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QUARENTENA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667512"/>
                <a:gridCol w="813816"/>
                <a:gridCol w="219456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Dimensão de Eficácia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 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 Representação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Tratativa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Eficazes (Causa Eliminada)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Arquivamento com lição aprendida consolidada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Ineficazes (Desvio Reincidente)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Reabertura imediata e nova investigação 5 Porquês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Quarentena Técnica (Pendente)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Acompanhamento em campo por 30 a 60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Reincidência de Falha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Monitoramento semântico contínuo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RNC(s) concluíram com sucesso o período de observação e comprovaram a não reincidência do desvio.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ações declaradas ineficazes: todas as soluções implementadas demonstraram alta capacidade de bloqueio.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Campo verificacaoEficacia extraído do repositório auditado.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10 • COMPETÊNCIAS &amp; EFETIVO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PESSOAS, COMPETÊNCIAS &amp; STATUS OPERACIONAL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Quadro executivo de distribuição estatística do efetivo por status operacional e governança de aptidão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COLABORADORES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Efetivo monitorado no SGQ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COLABORADORES ATIVOS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0% do efetivo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TREINAMENTO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supervisionada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RESTRIÇÃO / AFASTADOS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restrições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996696"/>
                <a:gridCol w="1060704"/>
                <a:gridCol w="758952"/>
                <a:gridCol w="248716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Regulatória / Escala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Apto para atuação e liberação operacional plena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treinamento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Supervisão técnica contínua e integração no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Restrito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Atuação limitada por condição médica ou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Suspenso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Bloqueio cautelar preventivo de liberação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Afastado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Licença médica ou previdenciária temporária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Inativo / Histórico preservado para rastreabilidade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informado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Requer classificação cadastral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Efetivo total registrado 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809744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901184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5129784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efetivo cadastrado conta com 0 colaboradores monitorados pelo SGQ.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técnico(s) encontram-se em status ATIVO (0%), com prontidão operacional plena.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Módulo de Pessoas, Competências &amp; CHTs (/organizations/{orgId}/persons).</a:t>
            </a:r>
            <a:endParaRPr lang="en-US" sz="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11 • COMPETÊNCIAS &amp; EFETIVO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DISTRIBUIÇÃO DO EFETIVO POR ESPECIALIDADE &amp; PRONTIDÃO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Indicadores estatísticos agregados por área técnica, capacidade de atendimento e governança RBAC 145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ESPECIALIDADES MAPEADAS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Áreas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Estratificação técnica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PRONTIDÃO OPERACIONAL GERAL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85%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técnicos ativos para liberação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TREINAMENTO SUPERVISIO...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Capacitação prática em andamento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RESTRIÇÕES / BLOQUEIOS AT...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restrições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27632"/>
                <a:gridCol w="685800"/>
                <a:gridCol w="594360"/>
                <a:gridCol w="768096"/>
                <a:gridCol w="685800"/>
                <a:gridCol w="94183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Especialidade / Função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Efetivo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Em Treinamento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Com Restrição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Taxa de Prontidão (%)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 de Linha CHT GMP/CEL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da Qualidade / NDT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Técnico em Aviônica CHT AVI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 Júnior Linha de Voo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Efetivo técnico monitorado estruturado em 4 especialidades operacionais com rastreabilidade formal.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global de prontidão técnica de 85%, garantindo cobertura contínua dos turnos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Estatísticas consolidadas do Módulo de Pessoas, Competências &amp; CHTs (/organizations/{orgId}/persons).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12 • COMPETÊNCIAS TÉCNICAS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VIGÊNCIA DE TREINAMENTOS E CHTs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de carteiras técnicas de manutenção aeronáutica, qualificações de tipo e reciclagens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HABILITAÇÕES VÁLIDAS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CHTs e Treinamentos vigentes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VENCER (≤30 DIAS)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Abertura de turmas prioritária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HABILITAÇÕES VENCIDAS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vencimentos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CONFORMIDADE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prontidão regulatória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536192"/>
                <a:gridCol w="768096"/>
                <a:gridCol w="704088"/>
                <a:gridCol w="731520"/>
                <a:gridCol w="704088"/>
                <a:gridCol w="85953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Especialidade / Função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 Monitorado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 Vencer (≤30d)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Vencidos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Índice de Prontidão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Mecânicos CHT GMP/CEL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Técnicos de Aviônica CHT AVI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Inspetores da Qualidade / NDT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Almoxarifado &amp; Suprimentos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Corpo Técnico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da matriz de treinamento e habilitações calculada em 96%.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habilitações ou treinamentos regulatórios vencidos na equipe técnica e de qualidade.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Módulo de Pessoas, Competências &amp; CHTs (FASE 9) e Central de Vencimentos.</a:t>
            </a:r>
            <a:endParaRPr lang="en-US" sz="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13 • CONTROLE DOCUMENTAL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GOVERNANÇA DOCUMENTAL E MANUAIS REGULATÓRIOS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Vigência, controle de revisões e rastreabilidade dos manuais de procedimentos da organização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AUDITADOS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12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VIGENTES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11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REVISÃO BIENAL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ÍNDICE DE VIGÊNCIA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98%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704088"/>
                <a:gridCol w="2084832"/>
                <a:gridCol w="1033272"/>
                <a:gridCol w="841248"/>
                <a:gridCol w="64008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do Manual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Denominação do Documento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Aprovação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MOE / MPM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Procedimentos da Organização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14 (Jan/2026)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Aprovado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MGSO / SGSO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Gerenciamento da Segurança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08 (Nov/2025)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MQ / MQO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da Garantia da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11 (Out/2025)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MTC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Treinamento e Capacitação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06 (Ago/2025)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Aprovado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MCM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Manual de Controle de Manutenção &amp; Ferramental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Rev. 09 (Dez/2025)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Interno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Vigente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Manuais de procedimentos mantidos com controle rigoroso de histórico de revisões e aprovação formal.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dos manuais corporativos encontram-se plenamente vigentes e aprovados pelas autoridades.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Coleções /manuals e /documentosControlados (FASE 10).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14 • METROLOGIA &amp; FERRAMENTAL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GESTÃO METROLÓGICA, FERRAMENTAL &amp; CONTA DE CRÉDITOS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estrito de calibração RBC, validade metrológica, saldo de créditos, ferramentas vencidas e laudos (RBAC 145.109)</a:t>
            </a:r>
            <a:endParaRPr lang="en-US" sz="8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INSTRUMENTOS</a:t>
            </a:r>
            <a:endParaRPr lang="en-US" sz="6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48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Acervo Metrológico RBAC...</a:t>
            </a:r>
            <a:endParaRPr lang="en-US" sz="650" dirty="0"/>
          </a:p>
        </p:txBody>
      </p:sp>
      <p:sp>
        <p:nvSpPr>
          <p:cNvPr id="10" name="Shape 8"/>
          <p:cNvSpPr/>
          <p:nvPr/>
        </p:nvSpPr>
        <p:spPr>
          <a:xfrm>
            <a:off x="2532888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06040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CALIBRADAS (EM DIA)</a:t>
            </a:r>
            <a:endParaRPr lang="en-US" sz="650" dirty="0"/>
          </a:p>
        </p:txBody>
      </p:sp>
      <p:sp>
        <p:nvSpPr>
          <p:cNvPr id="12" name="Text 10"/>
          <p:cNvSpPr/>
          <p:nvPr/>
        </p:nvSpPr>
        <p:spPr>
          <a:xfrm>
            <a:off x="2606040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2606040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96% Aptas / Conformes RBC</a:t>
            </a:r>
            <a:endParaRPr lang="en-US" sz="650" dirty="0"/>
          </a:p>
        </p:txBody>
      </p:sp>
      <p:sp>
        <p:nvSpPr>
          <p:cNvPr id="14" name="Shape 12"/>
          <p:cNvSpPr/>
          <p:nvPr/>
        </p:nvSpPr>
        <p:spPr>
          <a:xfrm>
            <a:off x="4334256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07408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VENCER NO MÊS (≤30D)</a:t>
            </a:r>
            <a:endParaRPr lang="en-US" sz="650" dirty="0"/>
          </a:p>
        </p:txBody>
      </p:sp>
      <p:sp>
        <p:nvSpPr>
          <p:cNvPr id="16" name="Text 14"/>
          <p:cNvSpPr/>
          <p:nvPr/>
        </p:nvSpPr>
        <p:spPr>
          <a:xfrm>
            <a:off x="4407408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407408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Aferição em Agendamento</a:t>
            </a:r>
            <a:endParaRPr lang="en-US" sz="650" dirty="0"/>
          </a:p>
        </p:txBody>
      </p:sp>
      <p:sp>
        <p:nvSpPr>
          <p:cNvPr id="18" name="Shape 16"/>
          <p:cNvSpPr/>
          <p:nvPr/>
        </p:nvSpPr>
        <p:spPr>
          <a:xfrm>
            <a:off x="6135624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208776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FERRAMENTAS VENCIDAS</a:t>
            </a:r>
            <a:endParaRPr lang="en-US" sz="650" dirty="0"/>
          </a:p>
        </p:txBody>
      </p:sp>
      <p:sp>
        <p:nvSpPr>
          <p:cNvPr id="20" name="Text 18"/>
          <p:cNvSpPr/>
          <p:nvPr/>
        </p:nvSpPr>
        <p:spPr>
          <a:xfrm>
            <a:off x="6208776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C262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6208776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Segregadas / Uso Bloqueado</a:t>
            </a:r>
            <a:endParaRPr lang="en-US" sz="650" dirty="0"/>
          </a:p>
        </p:txBody>
      </p:sp>
      <p:sp>
        <p:nvSpPr>
          <p:cNvPr id="22" name="Shape 20"/>
          <p:cNvSpPr/>
          <p:nvPr/>
        </p:nvSpPr>
        <p:spPr>
          <a:xfrm>
            <a:off x="7936992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8010144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LAUDOS RBC ANEXADOS</a:t>
            </a:r>
            <a:endParaRPr lang="en-US" sz="650" dirty="0"/>
          </a:p>
        </p:txBody>
      </p:sp>
      <p:sp>
        <p:nvSpPr>
          <p:cNvPr id="24" name="Text 22"/>
          <p:cNvSpPr/>
          <p:nvPr/>
        </p:nvSpPr>
        <p:spPr>
          <a:xfrm>
            <a:off x="8010144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92%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010144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44 Laudos Vinculados</a:t>
            </a:r>
            <a:endParaRPr lang="en-US" sz="650" dirty="0"/>
          </a:p>
        </p:txBody>
      </p:sp>
      <p:sp>
        <p:nvSpPr>
          <p:cNvPr id="26" name="Shape 24"/>
          <p:cNvSpPr/>
          <p:nvPr/>
        </p:nvSpPr>
        <p:spPr>
          <a:xfrm>
            <a:off x="9738360" y="1261872"/>
            <a:ext cx="169164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9811512" y="133502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SALDO MÉDIO DE CRÉDITO</a:t>
            </a:r>
            <a:endParaRPr lang="en-US" sz="650" dirty="0"/>
          </a:p>
        </p:txBody>
      </p:sp>
      <p:sp>
        <p:nvSpPr>
          <p:cNvPr id="28" name="Text 26"/>
          <p:cNvSpPr/>
          <p:nvPr/>
        </p:nvSpPr>
        <p:spPr>
          <a:xfrm>
            <a:off x="9811512" y="1517904"/>
            <a:ext cx="154533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142 dias</a:t>
            </a:r>
            <a:endParaRPr lang="en-US" sz="1400" dirty="0"/>
          </a:p>
        </p:txBody>
      </p:sp>
      <p:sp>
        <p:nvSpPr>
          <p:cNvPr id="29" name="Text 27"/>
          <p:cNvSpPr/>
          <p:nvPr/>
        </p:nvSpPr>
        <p:spPr>
          <a:xfrm>
            <a:off x="9811512" y="1883664"/>
            <a:ext cx="154533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6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Validade Média Restante</a:t>
            </a:r>
            <a:endParaRPr lang="en-US" sz="650" dirty="0"/>
          </a:p>
        </p:txBody>
      </p:sp>
      <p:graphicFrame>
        <p:nvGraphicFramePr>
          <p:cNvPr id="30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576072"/>
                <a:gridCol w="685800"/>
                <a:gridCol w="1106424"/>
                <a:gridCol w="576072"/>
                <a:gridCol w="795528"/>
                <a:gridCol w="758952"/>
                <a:gridCol w="8046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Código / Tag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PN / Modelo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Descrição do Instrumento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Próxima Calibração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de Crédito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RBC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Situação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TQ-023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STAHLWILLE 730N/20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Torquímetro de Estalo 20-100 Nm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2026-11-15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+36d (10%)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CERT-RBC-2025/1102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Atenção (≤60d)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MULT-004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FLUKE 87V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Multímetro Digital True-RMS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2026-12-10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+61d (17%)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CERT-RBC-2025/1245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Em Dia (Apta)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MAN-012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WIKA 232.50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Manômetro de Pressão Hidráulica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2026-10-28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+18d (10%)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CERT-RBC-2026/0488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⚠️ A Vencer (≤30d)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PAQ-001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MITUTOYO 500-196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Paquímetro Digital 150mm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2027-01-20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+102d (28%)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CERT-RBC-2026/0112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✅ Em Dia (Apta)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MIC-003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MITUTOYO 293-240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Micrômetro Externo 0-25mm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2026-10-05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-5d (Vencida - Bloqueada)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CERT-RBC-2025/1033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🚨 Vencida (Segregada)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TORQ-009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SNAP-ON QD3RN350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Torquímetro de Estalo 70-350 Nm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2026-09-15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-25d (Vencida - Bloqueada)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CERT-RBC-2025/0912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🚨 Vencida (Segregada)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32" name="Shape 28"/>
          <p:cNvSpPr/>
          <p:nvPr/>
        </p:nvSpPr>
        <p:spPr>
          <a:xfrm>
            <a:off x="6126480" y="4297680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29"/>
          <p:cNvSpPr/>
          <p:nvPr/>
        </p:nvSpPr>
        <p:spPr>
          <a:xfrm>
            <a:off x="6263640" y="4389120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34" name="Text 30"/>
          <p:cNvSpPr/>
          <p:nvPr/>
        </p:nvSpPr>
        <p:spPr>
          <a:xfrm>
            <a:off x="6263640" y="4617720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 metrológica ininterrupta à Rede Brasileira de Calibração (RBC / Inmetro / NIST) conforme RB...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Estrito de Ferramentas Vencidas: 1 instrumento(s) com calibração vencida (crédito esgotado), imedi...</a:t>
            </a:r>
            <a:endParaRPr lang="en-US" sz="800" dirty="0"/>
          </a:p>
        </p:txBody>
      </p:sp>
      <p:sp>
        <p:nvSpPr>
          <p:cNvPr id="35" name="Text 31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Módulo de Ferramentas &amp; Metrologia Operacional (Coleção /calibrated_tools) e Registro de Aferições RBC.</a:t>
            </a:r>
            <a:endParaRPr lang="en-US" sz="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15 • AUDITORIAS EXTERNAS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AUDITORIAS DA QUALIDADE &amp; CONSTATAÇÕES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Desempenho em auditorias regulatórias (ANAC, EASA, FAA, Clientes) e saneamento de findings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AUDITORIAS REALIZADAS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Prontidão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TOTAL DE CONSTATAÇÕES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Maiores | 0 Menores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TAXA DE SANEAMENTO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 Saneadas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PENDÊNCIAS MAIORES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07592"/>
                <a:gridCol w="777240"/>
                <a:gridCol w="1143000"/>
                <a:gridCol w="20756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Classificação do Achado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Quantidade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Médio Resposta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Exigência Regulatória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Maior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10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ação formal + evidência comprobatória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Não Conformidade Menor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30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corretiva com análise de causa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Observação de Auditoria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Até 45 dias corridos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Medida preventiva de melhoria contínua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Oportunidade de Melhoria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periódica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Avaliação de incorporação aos manuais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Nenhuma auditoria externa pendente no período; organização mantém protocolo de prontidão contínua.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constatações abertas perante órgãos homologadores ou clientes de manutenção.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Coleções /externalAudits e /auditFindings gerenciadas pelo módulo FASE 8.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16 • ATENÇÃO IMEDIATA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PRINCIPAIS PONTOS DE ATENÇÃO &amp; FATORES CRÍTICOS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Priorização de vulnerabilidades operacionais baseada em Risco, Prazos Atrasados e Vencimentos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PONTOS CRÍTICOS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FATOR TOP 1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Treinamentos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CANAL DE ESCALADA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Comitê SGQ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TEMPO DE RESPOSTA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Imediato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713232"/>
                <a:gridCol w="1298448"/>
                <a:gridCol w="190195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Fator Crítico de Atenção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Severidade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Impacto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Ação Obrigatória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Desvios com Risco Crítico (P1)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Segurança de voo e aeronave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em 24h e reunião com Diretoria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Ações Corretivas em Atraso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Auditorias regulatórias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Cobrança do responsável e novo marco temporal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Treinamentos e CHTs Vencidos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Validade da liberação técnica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Agendamento imediato de reciclagem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Ocorrências Reincidentes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Ineficácia do SGQ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da análise de causas pelo Comitê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Todos os indicadores operacionais encontram-se rigorosamente dentro dos limites aceitáveis do SGQ.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Filtro cruzado de riscos, alertas e prazos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17 • PLANO DE RESPOSTA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MATRIZ DE PRIORIZAÇÃO IMEDIATA &amp; DECISÕES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Fila executiva de ações e decisões imediatas requeridas da Diretoria e Liderança da Qualidade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PRIORITÁRIAS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DECISÕES DA DIRETORIA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9770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Requeridas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FÓRMULA DE PRIORIDADE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Risco x Atraso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PRAZO LIMITE DECISÃO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72 horas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389888"/>
                <a:gridCol w="1014984"/>
                <a:gridCol w="585216"/>
                <a:gridCol w="585216"/>
                <a:gridCol w="172821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Item / Ocorrência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Área Responsável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Criticidade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Limite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Decisão Requerida da Gestão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Contenção de RNCs com Risco P1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Gerência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Máxima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24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Homologar barreira técnica de contenção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Cobrança de Ações Corretivas Atrasadas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Liderança dos Setores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48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Repactuar cronograma e alocar apoio operacional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Reciclagem de CHTs Vencidas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Humanos / DHO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72 horas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Liberar agenda de instrutor credenciado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Revisão Bienal de Manuais (MCM)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Engenharia de Manutenção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Encaminhar protocolo formal de revisão à ANAC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Homologação de Eficácia Pendente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da Qualidade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Auditar ausência de reincidência e arquivar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Matriz de Priorização Imediata organiza as pendências em uma fila de decisão executiva inegociável.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Decisão 1: Aprovação de recursos extraordinários para regularização de reciclagens técnicas de mecânicos.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Algoritmo de Priorização Operacional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18 • ECOSSISTEMA &amp; INTEGRAÇÃO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 ECOSSISTEMA INTEGRADO DO QUALIGEST SGQ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Como os dados se conectam: da exigência regulatória à melhoria contínua sem silos operacionais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ETAPAS INTEGRADAS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Fluxo circular ininterrupto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SILOS OPERACIONAIS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Dados compartilhados em tempo real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RASTREABILIDADE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Do requisito ao indicador final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SEGREGAÇÃO DE DADOS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Multi-Tenant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Firestore corporativa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Circular Contínua do QualiGest SGQ (15 Fases)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1. Requisito Cliente: 1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2. Aplicabilidade: 2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3. Processo: 3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4. Documento Vigente: 4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5. Pessoa / CHT: 5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6. Metrologia RBC: 6</a:t>
            </a:r>
            <a:endParaRPr lang="en-US" sz="85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950976"/>
                <a:gridCol w="1325880"/>
                <a:gridCol w="1380744"/>
                <a:gridCol w="164592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Elo da Cadeia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Origem do Dado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Destino / Impacto Sistêmico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QualiGest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Requisitos &amp; Contratos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Clientes / ANAC / EASA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Controles Centrais SGQ &amp; Cockpit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Arquitetura "Um Controle, Vários Requisitos"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Acervo Documental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Manuais AMM/CMM/MOE (Fase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Consulta Temporal na Data da 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rigoroso de revisões e leitura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Pessoa &amp; Habilitação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Competências &amp; CHT (Fase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Execução Técnica no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Impedimento de atuação com CHT vencida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Metrologia &amp; Ferramental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RBC &amp; Certificados (Fase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Liberação de Ordens de Serviço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Conta corrente de créditos e quarentena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Desvio / Finding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Externa ou Hangar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 Oficial de RNC F 001-29 (Fase 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Notificação e contenção imediata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Investigação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Ishikawa 6M &amp; 5 Porquês (Fase 4)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de Ação Corretiva 5W2H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Foco na causa raiz sistêmica, não no sintoma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Eficácia Comprovada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de Seguimento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Base de Conhecimento N1 a N5 (Fase 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Incorporação como lição aprendida corporativa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Exibindo 7 de 9 registros (+ 2 omitidos)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478231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48737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510235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CADEIA INTEGRADA VIVA: Requisito de Cliente → Aplicabilidade &amp; Processo → Documento &amp; Revisão → Pessoa &amp; 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Eliminação total de silos: Uma exigência contratual alimenta o controle central, reflete na qualificação do...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Arquitetura Integrada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19 • MATURIDADE DO SGQ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OFICIAL DE MATURIDADE DO SGQ (NÍVEIS 1 A 5)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Diagnóstico do estágio de maturidade corporativa da organização baseado em evidências reais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ATUAL SGQ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4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Prevenção Sistêmica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CURTO PRAZO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4 PLENO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90 dias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META ESTRATÉGICA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5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Inteligência Preditiva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PILARES AUDITADOS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Conformes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Régua de Maturidade do SGQ (N1 a N5)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N1 - Registro: Totalmente Atingido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N2 - Controle: Totalmente Atingido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N3 - Integração: Consolidado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N4 - Prevenção: Consolidado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N5 - Inteligência: Ativo &amp; Em Expansão</a:t>
            </a:r>
            <a:endParaRPr lang="en-US" sz="85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649224"/>
                <a:gridCol w="1316736"/>
                <a:gridCol w="1161288"/>
                <a:gridCol w="21762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de Maturidade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Denominação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no QualiGest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Critério Chave Atendido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1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Registro &amp; Conformidade Básica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Totalmente Atingido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Ficha Oficial F 001-29 digitalizada e auditável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2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&amp; Metodologia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Totalmente Atingido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Ishikawa 6M, 5 Porquês e Planos 5W2H ativos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3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Integração &amp; Gestão Sem Silos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Consolidado (Fases 8 a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Conexão viva entre RNCs, Manuais, CHTs, Metrologia e Auditorias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4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Prevenção &amp; Auditoria por Exceção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Consolidado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Resolução por Exceção, motor sgqHealth e Alertas Preditivos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Nível 5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Inteligência, Smart Import &amp; ADRs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Em Expansão (Fases 14 e 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Mapeamento por IA, Diff de Reconciliação, Undo e System Designer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4041648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4133088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4361688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1 (Registro): 100% implementado — Todos os desvios são registrados formalmente via F 001-29 com numer...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NÍVEL 2 (Controle): 100% implementado — Metodologias 5W2H, Ishikawa 6M, 5 Porquês e Matriz 5x5 aplicadas co...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Diagnóstico calculado a partir dos dados reais do QualiGest SGQ.</a:t>
            </a:r>
            <a:endParaRPr lang="en-US" sz="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20 • STATUS SISTÊMICO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FUNCIONALIDADES E STATUS DE HOMOLOGAÇÃO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Classificação rigorosa dos módulos: Implementado, Em Homologação, Planejado e Futuro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MÓDULOS HOMOLOGADOS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15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100% Produção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CONECTORES MRO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Ativos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Impacto MRO API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 ERP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 Expansão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🟡 Conectores H2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REGRESSÃO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garantida</a:t>
            </a:r>
            <a:endParaRPr lang="en-US" sz="750" dirty="0"/>
          </a:p>
        </p:txBody>
      </p:sp>
      <p:graphicFrame>
        <p:nvGraphicFramePr>
          <p:cNvPr id="22" name="Chart 0" descr=""/>
          <p:cNvGraphicFramePr/>
          <p:nvPr/>
        </p:nvGraphicFramePr>
        <p:xfrm>
          <a:off x="731520" y="2377440"/>
          <a:ext cx="5120640" cy="37947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2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749808"/>
                <a:gridCol w="978408"/>
                <a:gridCol w="15636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/ Capacidade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 de Homologação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Estágio de Uso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Garantia de Segurança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Fluxo Digital de Não Conformidades (F 001-29)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Totalmente auditável com hash Firestore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Matriz de Risco Aeronáutico 5x5 &amp; 6M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Regras estritas de validação causal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Gestão de Pessoas, Competências &amp; CHTs (Fase 9)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Alerta automático e bloqueio de liberação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Governança Documental &amp; Consulta Temporal (Fase 10)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Controle de histórico e data da OS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Metrologia, Ferramental &amp; Créditos RBC (Fase 11)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Rastreabilidade de laudos e quarentena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Apresentação Gerencial Integrada 70/30 (Fase 12)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HOMOLOGADO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Web e PPTX Widescreen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Espelho fiel e auto-fit geométrico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Auditoria por Requisitos &amp; Resolução por Exceção (Fase 13)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Uso Operacional Pleno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One Control, Multiple Requirements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20" i="1" dirty="0">
                          <a:solidFill>
                            <a:srgbClr val="64748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Exibindo 7 de 10 registros (+ 3 omitidos)</a:t>
                      </a: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endParaRPr lang="en-US" sz="72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2E8F0"/>
                    </a:solidFill>
                  </a:tcPr>
                </a:tc>
              </a:tr>
            </a:tbl>
          </a:graphicData>
        </a:graphic>
      </p:graphicFrame>
      <p:sp>
        <p:nvSpPr>
          <p:cNvPr id="24" name="Shape 20"/>
          <p:cNvSpPr/>
          <p:nvPr/>
        </p:nvSpPr>
        <p:spPr>
          <a:xfrm>
            <a:off x="6126480" y="4782312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6263640" y="4873752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6" name="Text 22"/>
          <p:cNvSpPr/>
          <p:nvPr/>
        </p:nvSpPr>
        <p:spPr>
          <a:xfrm>
            <a:off x="6263640" y="5102352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Transparência executiva: distinção clara entre o que já está homologado e o que está em expansão ou planejado.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🟢 FASES 1 A 15 IMPLEMENTADAS &amp; HOMOLOGADAS: F 001-29, 6M/5W2H, Pessoas/CHTs, Documentos com Consulta Tempo...</a:t>
            </a:r>
            <a:endParaRPr lang="en-US" sz="800" dirty="0"/>
          </a:p>
        </p:txBody>
      </p:sp>
      <p:sp>
        <p:nvSpPr>
          <p:cNvPr id="27" name="Text 23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Matriz de Homologação e Ciclo de Releases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21 • ROADMAP ESTRATÉGICO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ROADMAP ESTRATÉGICO DO QUALIGEST SGQ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 de evolução contínua, compromissos de desenvolvimento e marcos de conformidade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 Fases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Curto, Médio, Longo e Futuro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FASES 1 A 15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100% Ativas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Implementado e Homologado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ENTREGA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Integrações ERP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II em curso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ZERO REGRESSÃO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Garantido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Blindagem de funcionalidades</a:t>
            </a:r>
            <a:endParaRPr lang="en-US" sz="750" dirty="0"/>
          </a:p>
        </p:txBody>
      </p:sp>
      <p:sp>
        <p:nvSpPr>
          <p:cNvPr id="22" name="Shape 20"/>
          <p:cNvSpPr/>
          <p:nvPr/>
        </p:nvSpPr>
        <p:spPr>
          <a:xfrm>
            <a:off x="731520" y="2377440"/>
            <a:ext cx="5120640" cy="3794760"/>
          </a:xfrm>
          <a:prstGeom prst="roundRect">
            <a:avLst>
              <a:gd name="adj" fmla="val 192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914400" y="251460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Horizontes de Evolução Tecnológica do QualiGest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14400" y="2880360"/>
            <a:ext cx="4754880" cy="3154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H1: Core Fases 1-15: 100% Implementado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H2: ERPs &amp; Conectores: Em Homologação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H3: Predição ATA 100: Planejado</a:t>
            </a:r>
            <a:endParaRPr lang="en-US" sz="850" dirty="0"/>
          </a:p>
          <a:p>
            <a:pPr marL="342900" indent="-342900">
              <a:lnSpc>
                <a:spcPts val="1400"/>
              </a:lnSpc>
              <a:buSzPct val="100000"/>
              <a:buChar char="•"/>
            </a:pPr>
            <a:r>
              <a:rPr lang="en-US" sz="85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H4: Ecossistema Global: Futuro</a:t>
            </a:r>
            <a:endParaRPr lang="en-US" sz="850" dirty="0"/>
          </a:p>
        </p:txBody>
      </p:sp>
      <p:graphicFrame>
        <p:nvGraphicFramePr>
          <p:cNvPr id="2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126480" y="2377440"/>
          <a:ext cx="5303520" cy="914400"/>
        </p:xfrm>
        <a:graphic>
          <a:graphicData uri="http://schemas.openxmlformats.org/drawingml/2006/table">
            <a:tbl>
              <a:tblPr/>
              <a:tblGrid>
                <a:gridCol w="1655064"/>
                <a:gridCol w="676656"/>
                <a:gridCol w="649224"/>
                <a:gridCol w="232257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Fase do Roadmap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Status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Objetivo Estratégico &amp; Impacto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 — Core Consolidado (Fases 1 a 15)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Atual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🟢 Implementado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RNCs, Pessoas, Manuais, Metrologia, Auditoria por Exceção, ADRs e Smart Import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II — Conectores ERP &amp; MRO Connect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Curto/Médio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🟡 Em Andamento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Integração bidirecional com SAP, Totvs, Quantum e Diários Eletrônicos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III — SGQ Preditivo &amp; Frota ATA 100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Médio/Longo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🔵 Planejado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Modelagem probabilística de falhas, confiabilidade e alertas AD/DA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Horizonte IV — Ecossistema Global Inter-MRO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Longo Prazo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0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⚪ Futuro</a:t>
                      </a:r>
                      <a:endParaRPr lang="en-US" sz="80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7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Rede colaborativa de lições aprendidas e benchmarking regulatório anonimizado</a:t>
                      </a:r>
                      <a:endParaRPr lang="en-US" sz="7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6" name="Shape 23"/>
          <p:cNvSpPr/>
          <p:nvPr/>
        </p:nvSpPr>
        <p:spPr>
          <a:xfrm>
            <a:off x="6126480" y="3785616"/>
            <a:ext cx="5303520" cy="1280160"/>
          </a:xfrm>
          <a:prstGeom prst="roundRect">
            <a:avLst>
              <a:gd name="adj" fmla="val 428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4"/>
          <p:cNvSpPr/>
          <p:nvPr/>
        </p:nvSpPr>
        <p:spPr>
          <a:xfrm>
            <a:off x="6263640" y="3877056"/>
            <a:ext cx="50292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Diretriz e Ação Recomendada SGQ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6263640" y="4105656"/>
            <a:ext cx="502920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1 (Curto Prazo — Consolidado): Fases 1 a 15 100% operacionais — Ficha F 001-29, 6M/5W2H, Pessoas/...</a:t>
            </a:r>
            <a:endParaRPr lang="en-US" sz="800" dirty="0"/>
          </a:p>
          <a:p>
            <a:pPr marL="342900" indent="-342900">
              <a:lnSpc>
                <a:spcPts val="1300"/>
              </a:lnSpc>
              <a:buSzPct val="100000"/>
              <a:buChar char="•"/>
            </a:pPr>
            <a:r>
              <a:rPr lang="en-US" sz="800" dirty="0">
                <a:solidFill>
                  <a:srgbClr val="1E293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HORIZONTE 2 (Médio Prazo — Em Andamento): Expansão dos Conectores ERP/MRO (Impacto MRO API, SAP, Totvs, Qua...</a:t>
            </a:r>
            <a:endParaRPr lang="en-US" sz="800" dirty="0"/>
          </a:p>
        </p:txBody>
      </p:sp>
      <p:sp>
        <p:nvSpPr>
          <p:cNvPr id="29" name="Text 26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Roadmap Estratégico e Planejamento Tecnológico do QualiGest SGQ (Fases 1 a 15).</a:t>
            </a:r>
            <a:endParaRPr lang="en-US" sz="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22 • CONCLUSÃO &amp; DIRETRIZES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CONCLUSÃO EXECUTIVA E DIRETRIZES DA QUALIDADE</a:t>
            </a:r>
            <a:endParaRPr lang="en-US" sz="160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Parecer da Garantia da Qualidade, compromissos para os próximos 30 dias e princípios do QualiGest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CONFORMIDADE GERAL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SATISFATÓRIA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AÇÕES PRIORITÁRIAS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 Diretrizes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Próximos 30 dias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CICLO DE REVISÃO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Mensal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Próxima Reunião em 30d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FILOSOFIA SGQ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Sem Atrito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Controle com fluidez</a:t>
            </a:r>
            <a:endParaRPr lang="en-US" sz="7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3035808"/>
                <a:gridCol w="3145536"/>
                <a:gridCol w="1069848"/>
                <a:gridCol w="3447288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Diretriz Estratégica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Responsável Designado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Prazo Limite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Evidência Requerida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1. Saneamento de Ações Atrasadas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Gerente de Manutenção / Qualidade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15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Plano 5W2H concluído e evidência no SGQ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2. Reciclagem de Treinamentos/CHTs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Recursos Humanos / DHO Técnico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Certificado de curso emitido e anexado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3. Homologação de Eficácia de RNCs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Inspetor Chefe / Garantia da Qualidade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30 dias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Formulário F 001-29 assinado e arquivado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Parecer Oficial da Garantia da Qualidade e Diretoria Técnica.</a:t>
            </a:r>
            <a:endParaRPr lang="en-US" sz="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37160"/>
          </a:xfrm>
          <a:prstGeom prst="rect">
            <a:avLst/>
          </a:prstGeom>
          <a:solidFill>
            <a:srgbClr val="0F172A"/>
          </a:solidFill>
          <a:ln/>
        </p:spPr>
      </p:sp>
      <p:sp>
        <p:nvSpPr>
          <p:cNvPr id="3" name="Text 1"/>
          <p:cNvSpPr/>
          <p:nvPr/>
        </p:nvSpPr>
        <p:spPr>
          <a:xfrm>
            <a:off x="731520" y="274320"/>
            <a:ext cx="9144000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1E40A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SLIDE 23 • AUDITORIA &amp; METADADOS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731520" y="475488"/>
            <a:ext cx="10698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FONTE DOS DADOS E RASTREABILIDADE DO RELATÓRIO</a:t>
            </a:r>
            <a:endParaRPr lang="en-US" sz="1450" dirty="0"/>
          </a:p>
        </p:txBody>
      </p:sp>
      <p:sp>
        <p:nvSpPr>
          <p:cNvPr id="5" name="Text 3"/>
          <p:cNvSpPr/>
          <p:nvPr/>
        </p:nvSpPr>
        <p:spPr>
          <a:xfrm>
            <a:off x="731520" y="896112"/>
            <a:ext cx="1069848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Evidências de auditoria, ambiente de banco de dados, certificação auto-fit e metadados de emissão</a:t>
            </a:r>
            <a:endParaRPr lang="en-US" sz="950" dirty="0"/>
          </a:p>
        </p:txBody>
      </p:sp>
      <p:sp>
        <p:nvSpPr>
          <p:cNvPr id="6" name="Shape 4"/>
          <p:cNvSpPr/>
          <p:nvPr/>
        </p:nvSpPr>
        <p:spPr>
          <a:xfrm>
            <a:off x="73152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0467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PLATAFORMA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80467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0467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0" name="Shape 8"/>
          <p:cNvSpPr/>
          <p:nvPr/>
        </p:nvSpPr>
        <p:spPr>
          <a:xfrm>
            <a:off x="345186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52501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VERSÃO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52501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v2.8.0-enterprise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52501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617220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24535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BANCO DE DADOS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24535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Cloud Firestore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624535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sp>
        <p:nvSpPr>
          <p:cNvPr id="18" name="Shape 16"/>
          <p:cNvSpPr/>
          <p:nvPr/>
        </p:nvSpPr>
        <p:spPr>
          <a:xfrm>
            <a:off x="8892540" y="1261872"/>
            <a:ext cx="2537460" cy="868680"/>
          </a:xfrm>
          <a:prstGeom prst="roundRect">
            <a:avLst>
              <a:gd name="adj" fmla="val 6316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965692" y="133502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HASH DE INTEGRIDADE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8965692" y="1517904"/>
            <a:ext cx="2391156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5966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QG-6A4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8965692" y="1883664"/>
            <a:ext cx="2391156" cy="2011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Monitoramento contínuo</a:t>
            </a:r>
            <a:endParaRPr lang="en-US" sz="75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31520" y="2377440"/>
          <a:ext cx="1069848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5943600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Parâmetro de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Especificação no Sistema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40A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Módulo Emissor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QualityPresentationGenerator (FASE 12.2 Consolidada)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Perfil do Usuário Emissor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Auditor em Treinamento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Mecanismo de Persistência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Firestore Enterprise Multi-Tenant Seguro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Segurança de Chaves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Server-side isolation (Node.js Express / process.env.GEMINI_API_KEY)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Trilha de Auditoria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Immutable Append-Only Audit Trail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Conformidade Auto-Fit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850" dirty="0">
                          <a:solidFill>
                            <a:srgbClr val="1E293B"/>
                          </a:solidFill>
                          <a:latin typeface="Arial" pitchFamily="34" charset="0"/>
                          <a:ea typeface="Arial" pitchFamily="34" charset="-122"/>
                          <a:cs typeface="Arial" pitchFamily="34" charset="-120"/>
                        </a:rPr>
                        <a:t>100% Homologado — 0 Overflows ou Colisões</a:t>
                      </a:r>
                      <a:endParaRPr lang="en-US" sz="850" dirty="0">
                        <a:latin typeface="Arial" charset="0"/>
                        <a:ea typeface="Arial" charset="0"/>
                        <a:cs typeface="Arial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3" name="Text 20"/>
          <p:cNvSpPr/>
          <p:nvPr/>
        </p:nvSpPr>
        <p:spPr>
          <a:xfrm>
            <a:off x="731520" y="6446520"/>
            <a:ext cx="10698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64748B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QualiGest SGQ v2.8.0 | Organização: Nova Empresa Hangar SGQ | Fonte: Metadados do sistema, trilhas de auditoria e configurações do projeto.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2026-10-10T14:38:43Z</dcterms:created>
  <dcterms:modified xsi:type="dcterms:W3CDTF">2026-10-10T14:38:43Z</dcterms:modified>
</cp:coreProperties>
</file>