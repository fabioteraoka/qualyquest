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6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9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80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VISÃO GERAL DO SGQ (MACRO-INDICADORES)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SGQ Health</c:v>
                  </c:pt>
                  <c:pt idx="1">
                    <c:v>Resolução RNCs</c:v>
                  </c:pt>
                  <c:pt idx="2">
                    <c:v>Pontualidade 5W2H</c:v>
                  </c:pt>
                  <c:pt idx="3">
                    <c:v>Eficácia Compro...</c:v>
                  </c:pt>
                  <c:pt idx="4">
                    <c:v>Vigência CHTs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0</c:v>
                </c:pt>
                <c:pt idx="2">
                  <c:v>100</c:v>
                </c:pt>
                <c:pt idx="3">
                  <c:v>100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PANORAMA E FUNIL DE RNCs (FLUXO F 001-29)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1. Identificação</c:v>
                  </c:pt>
                  <c:pt idx="1">
                    <c:v>2. Causa Raiz</c:v>
                  </c:pt>
                  <c:pt idx="2">
                    <c:v>3. Ação 5W2H</c:v>
                  </c:pt>
                  <c:pt idx="3">
                    <c:v>4. Eficácia</c:v>
                  </c:pt>
                  <c:pt idx="4">
                    <c:v>5. Encerradas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DE RNCs POR SETOR OPERACIONAL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Hangar</c:v>
                  </c:pt>
                  <c:pt idx="1">
                    <c:v>Motores</c:v>
                  </c:pt>
                  <c:pt idx="2">
                    <c:v>Aviônicos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RNCs CRÍTICAS E PENDÊNCIAS RELEVANTES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 (P1)</c:v>
                  </c:pt>
                  <c:pt idx="1">
                    <c:v>Alto (P2)</c:v>
                  </c:pt>
                  <c:pt idx="2">
                    <c:v>Médio (P3)</c:v>
                  </c:pt>
                  <c:pt idx="3">
                    <c:v>Baixo (P4)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INVESTIGAÇÃO DE CAUSAS RAÍZES (ISHIKAWA 6M)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Método</c:v>
                  </c:pt>
                  <c:pt idx="1">
                    <c:v>Mão de Obra</c:v>
                  </c:pt>
                  <c:pt idx="2">
                    <c:v>Máquina</c:v>
                  </c:pt>
                  <c:pt idx="3">
                    <c:v>Material</c:v>
                  </c:pt>
                  <c:pt idx="4">
                    <c:v>Meio Ambiente</c:v>
                  </c:pt>
                  <c:pt idx="5">
                    <c:v>Medição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PLANOS DE AÇÃO CORRETIVA (5W2H) &amp; PONTUALIDADE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Concluídas</c:v>
                  </c:pt>
                  <c:pt idx="1">
                    <c:v>Em Andamento</c:v>
                  </c:pt>
                  <c:pt idx="2">
                    <c:v>Atrasadas</c:v>
                  </c:pt>
                  <c:pt idx="3">
                    <c:v>A Vencer 7d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EFICÁCIA DAS AÇÕES &amp; BLOQUEIO DE REINCIDÊNCIA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Eficazes</c:v>
                </c:pt>
                <c:pt idx="1">
                  <c:v>Ineficazes (Rea...</c:v>
                </c:pt>
                <c:pt idx="2">
                  <c:v>Em Quarentena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PESSOAS, COMPETÊNCIAS &amp; STATUS OPERACIONAL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Ativo</c:v>
                </c:pt>
                <c:pt idx="1">
                  <c:v>Em Treinamento</c:v>
                </c:pt>
                <c:pt idx="2">
                  <c:v>Restrito</c:v>
                </c:pt>
                <c:pt idx="3">
                  <c:v>Suspenso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DO EFETIVO POR ESPECIALIDADE &amp; PRONTIDÃO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Mecânico de Lin...</c:v>
                  </c:pt>
                  <c:pt idx="1">
                    <c:v>Inspetor da Qua...</c:v>
                  </c:pt>
                  <c:pt idx="2">
                    <c:v>Técnico em Aviô...</c:v>
                  </c:pt>
                  <c:pt idx="3">
                    <c:v>Mecânico Júnior...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VIGÊNCIA DE TREINAMENTOS E CHTs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Válidos</c:v>
                  </c:pt>
                  <c:pt idx="1">
                    <c:v>A Vencer (≤30d)</c:v>
                  </c:pt>
                  <c:pt idx="2">
                    <c:v>Vencidos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GOVERNANÇA DOCUMENTAL E MANUAIS REGULATÓRIOS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Vigentes</c:v>
                </c:pt>
                <c:pt idx="1">
                  <c:v>Em Revisão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</c:v>
                </c:pt>
                <c:pt idx="1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GESTÃO METROLÓGICA, FERRAMENTAL &amp; CONTA DE CRÉDITOS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Crédito Regular...</c:v>
                </c:pt>
                <c:pt idx="1">
                  <c:v>Atenção (31-60d)</c:v>
                </c:pt>
                <c:pt idx="2">
                  <c:v>A Vencer no Mês...</c:v>
                </c:pt>
                <c:pt idx="3">
                  <c:v>Ferramentas Ven...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6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AUDITORIAS DA QUALIDADE &amp; CONSTATAÇÕES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Sem Constataçõe...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PRINCIPAIS PONTOS DE ATENÇÃO &amp; FATORES CRÍTICOS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Risco P1</c:v>
                  </c:pt>
                  <c:pt idx="1">
                    <c:v>Ações Atrasadas</c:v>
                  </c:pt>
                  <c:pt idx="2">
                    <c:v>CHTs Vencidas</c:v>
                  </c:pt>
                  <c:pt idx="3">
                    <c:v>Reincidências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MATRIZ DE PRIORIZAÇÃO IMEDIATA &amp; DECISÕES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Criticidade Máx...</c:v>
                  </c:pt>
                  <c:pt idx="1">
                    <c:v>Alta Criticidad...</c:v>
                  </c:pt>
                  <c:pt idx="2">
                    <c:v>Média Criticida...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FUNCIONALIDADES E STATUS DE HOMOLOGAÇÃO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Implementado / ...</c:v>
                  </c:pt>
                  <c:pt idx="1">
                    <c:v>Em Homologação ...</c:v>
                  </c:pt>
                  <c:pt idx="2">
                    <c:v>Planejado (H3)</c:v>
                  </c:pt>
                  <c:pt idx="3">
                    <c:v>Futuro (H4)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GERENCIAL DA QUALIDADE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 Executivo da Garantia da Qualidade Aeronáutica e Segurança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0360152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Empresa Hangar SGQ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AUDITADO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Geral Consolidado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TÉCNICO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em Treinamento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EMISSÃO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11/10/2026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v2.8.0-enterprise | Documento Oficial Auditável | RBAC 145 / ISO 9001:2015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• VISÃO EXECUTIVA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SGQ (MACRO-INDICADORES)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global da integridade sistêmica, desvios operacionais e exposição a risco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SGQ HEALTH INDEX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Abertas | 0 Encerradas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REAL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validadas com sucesso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CRÍTICOS (P1)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≥ 15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896112"/>
                <a:gridCol w="896112"/>
                <a:gridCol w="1261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Macro-Indicador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Mínima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Executiva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SGQ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Resolução de RNCs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Pontualidade Planos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de Treinamentos/CHTs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Documental de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Geral de Saúde do SGQ calculado em 100%, com status classificado como "BOM".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Não Conformidade registrada no período selecionado.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Cálculo automatizado pelo motor sgqHealthEvaluator sobre as coleções reais do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• PROCESSO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E FUNIL DE RNCs (FLUXO F 001-29)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das Não Conformidades por fase normativa do formulário oficial de desvios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INVESTIGAÇÃO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AÇÃO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ENCERRADAS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93976"/>
                <a:gridCol w="822960"/>
                <a:gridCol w="896112"/>
                <a:gridCol w="1490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 do Fluxo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de SLA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Identificação &amp;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24h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Análise Causa Raiz (Ishikawa/5P)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5 dias úteis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Plano de Ação 5W2H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 prazo acordado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Aguardando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a 60 dias pós-ação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Concluídas e Encerradas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 regulatório definitivo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total de 0 desvios registrados, 0 (0%) cumpriram todo o ciclo até o encerramento.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RNC(s) encontram-se na fase preliminar de identificação, contenção imediata e investigação de causas.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Coleção /organizations/{orgId}/nonConformities auditada em tempo real.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• DISTRIBUIÇÃO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RNCs POR SETOR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Incidência de não conformidades por departamento técnico e oficinas de hangar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MAPEADOS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MAIS DEMANDADO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DO SETOR TOP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Controle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61288"/>
                <a:gridCol w="1188720"/>
                <a:gridCol w="1078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(RNCs)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Prioritária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Hangar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Oficina de Motores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Aviônicos &amp; Instrumentos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Almoxarifado Aeronáutico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dos desvios: o setor com maior incidência é "Operações" com 0 ocorrência(s).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estratificação setorial permite direcionar auditorias internas focadas e supervisão técnica reforçada.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Campo setor de cada registro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RELEVANTES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das ocorrências de maior impacto operacional e status de contenção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722376"/>
                <a:gridCol w="1975104"/>
                <a:gridCol w="731520"/>
                <a:gridCol w="704088"/>
                <a:gridCol w="585216"/>
                <a:gridCol w="585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RNC-2026-001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procedimento na inspeção pré-voo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RNC-2026-002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Discrepância documental em ordem de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RNC-2026-003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Calibração de torquímetro expirada no armário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Ferramentaria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52958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6210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384962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controle: zero Não Conformidades classificadas na faixa de Risco Crítico no período auditado.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com severidade ≥ 4 exigem bloqueio físico de componentes ou aeronave até homologação de liberação.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Classificação de Severidade x Probabilidade do formulário F 001-29.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RISCOS &amp; MATRIZ AERONÁUTICA 5x5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de Ocorrência segundo diretrizes do SGSO /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Prob. ≥ 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10 a 14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MÉDIO (P3)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5 a 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BAIXO (P4)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a 4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Sev \ Prob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1 - Catastrófica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1D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1E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2 - Crítica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2A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2B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2C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2D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2E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3 - Moderada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3A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3B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3C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3D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3E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4 - Menor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4A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5 - Insignificante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" y="4005072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de Risco: 🔴 Crítico (P1) | 🟠 Alto (P2) | 🟡 Médio (P3) | 🟢 Baixo (P4)</a:t>
            </a:r>
            <a:endParaRPr lang="en-US" sz="7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950976"/>
                <a:gridCol w="850392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de Risco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Qtd 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 (15 - 25)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Vermelho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mandatória em 24h + Envolvimento da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(10 - 14)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Laranja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profunda de causa + Ação em 48h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 (5 - 9)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Amarelo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Tratamento via fluxo padrão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 (1 - 4)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documental e lição aprendida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desvio na zona vermelha crítica da Matriz 5x5 durante o período auditado.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ocorrência(s) classificadas como Risco Alto (P2), com planos corretivos em acompanhamento diário.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Avaliação inicial de risco registrada no formulário F 001-29 de cada RNC.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• ANÁLISE CAUSAL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DE CAUSAS RAÍZES (ISHIKAWA 6M)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real das causas identificadas via Diagrama de Causa e Efeito e 5 Porquês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Concluído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MÉTODO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 instruções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MÃO DE OBRA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atenção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&amp; MATERIAL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Ferramental e insumos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68096"/>
                <a:gridCol w="731520"/>
                <a:gridCol w="2203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Família do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Causas Identificadas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Bloqueio Recomendado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(Processo / Instrução)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de cartas de trabalho e procedimentos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Mão de Obra (Capacitação / Fator Humano)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técnica e treinamento em Fatores Humanos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(Ferramenta / Equipamento)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calibração e manutenção preventiva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(Peças / Insumos)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Qualificação de fornecedores e controle de recebimento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Meio Ambiente &amp; Medição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Iluminação, organização e instrumentos aferidos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metodológica baseada no Diagrama de Causa e Efeito (6M) integrado com a técnica dos 5 Porquês.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preventivo: identificar fatores latentes que antecedem o erro ativo na linha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Análise de Causa Raiz preenchida nas RNCs (/organizations/{orgId}/nonConformities).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CORRETIVA (5W2H) &amp; PONTUALIDADE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física dos planos de ação e cumprimento de prazos regulatórios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63624"/>
                <a:gridCol w="850392"/>
                <a:gridCol w="850392"/>
                <a:gridCol w="2039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do Plano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Regulatório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e saneamento em 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com Sucesso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Prontas para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com Prazo Vencido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não conformidade em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a Vencer em 7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preventivo prioritário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de 0 ações corretivas planejadas já foram implementadas pelas áreas responsáveis.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disciplina de pontualidade: nenhuma ação corretiva encontra-se em atraso.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Campo acaoCorretiva de cada Não Conformidade auditada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• EFICÁCIA DA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DAS AÇÕES &amp; BLOQUEIO DE REINCIDÊNCIA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Comprovação da eliminação da causa raiz após período de quarentena técnica (30-60 dias)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COMPROVADA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EFICAZES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REABERTAS (INEFICAZES)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QUARENTENA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67512"/>
                <a:gridCol w="813816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Tratativa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Eficazes (Causa Eliminada)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Arquivamento com lição aprendida consolidada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Ineficazes (Desvio Reincidente)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Reabertura imediata e nova investigação 5 Porquês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Quarentena Técnica (Pendente)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em campo por 30 a 60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Reincidência de Falha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semântico contínuo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RNC(s) concluíram com sucesso o período de observação e comprovaram a não reincidência do desvio.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ações declaradas ineficazes: todas as soluções implementadas demonstraram alta capacidade de bloqueio.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Campo verificacaoEficacia extraído do repositório auditado.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PESSOAS, COMPETÊNCIAS &amp; STATUS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executivo de distribuição estatística do efetivo por status operacional e governança de aptidão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COLABORADORES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monitorado no SGQ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ATIVOS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do efetivo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supervisionada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RESTRIÇÃO / AFASTADOS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96696"/>
                <a:gridCol w="1060704"/>
                <a:gridCol w="758952"/>
                <a:gridCol w="2487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 / Escala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Apto para atuação e liberação operacional plena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Supervisão técnica contínua e integração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Atuação limitada por condição médica ou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Suspenso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Bloqueio cautelar preventivo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Afastado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Licença médica ou previdenciária temporária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 / Histórico preservado para rastreabilidade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informado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Requer classificação cadastral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Efetivo total registrado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80974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2978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efetivo cadastrado conta com 0 colaboradores monitorados pelo SGQ.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técnico(s) encontram-se em status ATIVO (0%), com prontidão operacional plena.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EFETIVO POR ESPECIALIDADE &amp; PRONTIDÃO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estatísticos agregados por área técnica, capacidade de atendimento e governança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Áreas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Estratificação técnica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PRONTIDÃO OPERACIONAL GERAL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técnicos ativos para liberação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 SUPERVISIO...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prática em andamento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/ BLOQUEIOS AT...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85800"/>
                <a:gridCol w="594360"/>
                <a:gridCol w="768096"/>
                <a:gridCol w="685800"/>
                <a:gridCol w="941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Efetivo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Restrição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Prontidão (%)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de Linha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 em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Júnior Linha de Voo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técnico monitorado estruturado em 4 especialidades operacionais com rastreabilidade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global de prontidão técnica de 85%, garantindo cobertura contínua dos turnos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Estatísticas consolidadas do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• COMPETÊNCIAS TÉCNICAS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 DE TREINAMENTOS E CHTs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de carteiras técnicas de manutenção aeronáutica, qualificações de tipo e reciclagens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VÁLIDAS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CHTs e Treinamentos vigentes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(≤30 DIAS)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turmas prioritária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VENCIDAS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vencimentos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CONFORMIDADE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prontidão regulatória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768096"/>
                <a:gridCol w="704088"/>
                <a:gridCol w="731520"/>
                <a:gridCol w="704088"/>
                <a:gridCol w="8595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Monitorado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Prontidão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Mecânicos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Técnicos de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Inspetores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Almoxarifado &amp; Suprimentos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 Técnico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da matriz de treinamento e habilitações calculada em 96%.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habilitações ou treinamentos regulatórios vencidos na equipe técnica e de qualidade.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Módulo de Pessoas, Competências &amp; CHTs (FASE 9) e Central de Vencimentos.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• CONTROLE DOCUMENTAL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DOCUMENTAL E MANUAIS REGULATÓRIOS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Vigência, controle de revisões e rastreabilidade dos manuais de procedimentos da organização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AUDITADOS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VIGENTES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REVISÃO BIENAL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VIGÊNCIA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704088"/>
                <a:gridCol w="2084832"/>
                <a:gridCol w="1033272"/>
                <a:gridCol w="841248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do Manual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 do Documento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Aprovação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 / MPM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Procedimentos da Organização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14 (Jan/2026)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MGSO / SGSO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Gerenciamento da Segurança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08 (Nov/2025)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 / MQO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da 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11 (Out/2025)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Treinamento e Capacitação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06 (Ago/2025)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Controle de Manutenção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09 (Dez/2025)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de procedimentos mantidos com controle rigoroso de histórico de revisões e aprovação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dos manuais corporativos encontram-se plenamente vigentes e aprovados pelas autoridades.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Coleções /manuals e /documentosControlados (FASE 10).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• METROLOGIA &amp; FERRAMENTAL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METROLÓGICA, FERRAMENTAL &amp; CONTA DE CRÉDITOS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calibração RBC, validade metrológica, saldo de créditos, ferramentas vencidas e laudos (RBAC 145.109)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INSTRUMENTOS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Metrológico RBAC...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32888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CALIBRADAS (EM DIA)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06040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Aptas / Conformes RBC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334256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NO MÊS (≤30D)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07408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Aferição em Agendamento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135624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VENCIDAS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08776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Segregadas / Uso Bloqueado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936992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LAUDOS RBC ANEXADOS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010144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10144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Laudos Vinculados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3836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MÉDIO DE CRÉDITO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81151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dias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1151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Média Restante</a:t>
            </a:r>
            <a:endParaRPr lang="en-US" sz="6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685800"/>
                <a:gridCol w="1106424"/>
                <a:gridCol w="576072"/>
                <a:gridCol w="786384"/>
                <a:gridCol w="758952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/ Tag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 / Modelo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 do Instrumento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Próxima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de Crédito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RBC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TQ-023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STAHLWILLE 730N/20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20-100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+35d (10%)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CERT-RBC-2025/1102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Atenção (≤60d)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MULT-004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FLUKE 87V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Multímetro Digital True-RMS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+60d (16%)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CERT-RBC-2025/1245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Atenção (≤60d)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MAN-012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WIKA 232.50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Manômetro de Pressão Hidráulica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+17d (9%)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CERT-RBC-2026/0488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PAQ-001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500-196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Paquímetro Digital 150mm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2027-01-20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+101d (28%)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CERT-RBC-2026/0112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MIC-003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293-240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Micrômetro Externo 0-25mm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CERT-RBC-2025/1033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TORQ-009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SNAP-ON QD3RN350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70-350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CERT-RBC-2025/0912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metrológica ininterrupta à Rede Brasileira de Calibração (RBC / Inmetro / NIST) conforme RB...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Ferramentas Vencidas: 1 instrumento(s) com calibração vencida (crédito esgotado), imedi...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Módulo de Ferramentas &amp; Metrologia Operacional (Coleção /calibrated_tools) e Registro de Aferições RBC.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• AUDITORIAS EXTERNAS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DA QUALIDADE &amp; CONSTATAÇÕES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em auditorias regulatórias (ANAC, EASA, FAA, Clientes) e saneamento de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REALIZADAS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Prontidão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CONSTATAÇÕES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Maiores | 0 Menores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SANEAMENTO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Saneadas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MAIORES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777240"/>
                <a:gridCol w="1143000"/>
                <a:gridCol w="2075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 do Achado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Médio Resposta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Exigência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Maior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10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formal + evidência comprobatória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Menor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30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com análise de causa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45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 preventiva de melhoria contínua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 de Melhoria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periódica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de incorporação aos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auditoria externa pendente no período; organização mantém protocolo de prontidão contínua.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constatações abertas perante órgãos homologadores ou clientes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Coleções /externalAudits e /auditFindings gerenciadas pelo módulo FASE 8.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• ATENÇÃO IMEDIATA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PONTOS DE ATENÇÃO &amp; FATORES CRÍTICOS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vulnerabilidades operacionais baseada em Risco, Prazos Atrasados e Vencimentos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CRÍTICOS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TOP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ESCALADA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SGQ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713232"/>
                <a:gridCol w="1298448"/>
                <a:gridCol w="19019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Fator Crítico de Atenção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Obrigatória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Desvios com Risco Crítico (P1)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voo e aeronave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em 24h e reunião com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Corretivas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Auditorias regulatórias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do responsável e novo marco temporal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Treinamentos e CHTs 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Validade da liberação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Agendamento imediato de reciclagem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Reincidentes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Ineficácia do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da análise de causas pelo Comitê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indicadores operacionais encontram-se rigorosamente dentro dos limites aceitáveis do SGQ.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Filtro cruzado de riscos, alertas e prazos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• PLANO DE RESPOSTA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PRIORIZAÇÃO IMEDIATA &amp; DECISÕES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executiva de ações e decisões imediatas requeridas da Diretoria e Liderança da Qualidade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DA DIRETORIA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Requeridas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DE PRIORIDADE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x Atraso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LIMITE DECISÃO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horas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014984"/>
                <a:gridCol w="585216"/>
                <a:gridCol w="585216"/>
                <a:gridCol w="1728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/ Ocorrência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Responsável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Requerida da Gestão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de RNCs com Risco 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Gerência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Homologar barreira técnica de contenção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de Ações Corretivas Atrasadas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Liderança dos Setores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Repactuar cronograma e alocar apoio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de CHTs Vencidas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Liberar agenda de instrutor credenciado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Bienal de Manuais (MCM)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Encaminhar protocolo formal de revisão à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de Eficácia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Auditar ausência de reincidência e arquivar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Priorização Imediata organiza as pendências em uma fila de decisão executiva inegociável.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1: Aprovação de recursos extraordinários para regularização de reciclagens técnicas de mecânicos.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Algoritmo de Priorização Operacional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• ECOSSISTEMA &amp; INTEGRAÇÃO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ECOSSISTEMA INTEGRADO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dados se conectam: da exigência regulatória à melhoria contínua sem silos operacionais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INTEGRADAS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circular ininterrupto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OPERACIONAIS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compartilhados em tempo real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requisito ao indicador final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DADOS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Firestore corporativa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Circular Contínua do QualiGest SGQ (15 Fases)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 Cliente: 1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Aplicabilidade: 2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Processo: 3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Documento Vigente: 4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Pessoa / CHT: 5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Metrologia RBC: 6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1325880"/>
                <a:gridCol w="1380744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Elo da Cadeia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Origem do 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/ Impacto Sistêmico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 &amp; Contratos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/ ANAC / EASA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Centrais SGQ &amp; Cockpit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"Um Controle, Vários Requisitos"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Acervo Documental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Manuais AMM/CMM/MOE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Temporal na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rigoroso de revisões e leitura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&amp; Habilitação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Competências &amp; CHT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Execução Técnica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Impedimento de atuação com CHT vencida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RBC &amp; Certificados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Liberação de Ordens de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corrente de créditos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/ Finding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Externa ou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de RNC F 001-29 (Fase 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Notificação e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 &amp; 5 Porquês (Fase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Corretiva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na causa raiz sistêmica, não no sintoma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de Seguimento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Conhecimento N1 a N5 (Fase 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Incorporação como lição aprendida corporativa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9 registros (+ 2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INTEGRADA VIVA: Requisito de Cliente → Aplicabilidade &amp; Processo → Documento &amp; Revisão → Pessoa &amp; 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total de silos: Uma exigência contratual alimenta o controle central, reflete na qualificação do...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Arquitetura Integrada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• MATURIDADE DO SGQ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OFICIAL DE MATURIDADE DO SGQ (NÍVEIS 1 A 5)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estágio de maturidade corporativa da organização baseado em evidências reais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ATUAL SGQ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Sistêmica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CURTO PRAZO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 PLENO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90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ESTRATÉGICA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Preditiva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AUDITADOS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Conformes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Maturidade do SGQ (N1 a N5)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N1 - Registro: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N2 - Controle: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N3 - Integração: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N4 - Prevenção: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N5 - Inteligência: Ativo &amp; Em Expansão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649224"/>
                <a:gridCol w="1316736"/>
                <a:gridCol w="1161288"/>
                <a:gridCol w="2176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de Maturidade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no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 Chave Atendido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&amp; Conformidade Básica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F 001-29 digitalizada e auditável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&amp; Metodologia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6M, 5 Porquês e Planos 5W2H 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&amp; Gestão Sem Silos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(Fases 8 a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 viva entre RNCs, Manuais, CHTs, Metrologia e Auditorias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Prevenção &amp; Auditoria por Exceção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por Exceção, motor sgqHealth e Alertas Preditivos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Inteligência, Smart Import &amp; ADRs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Expansão (Fases 14 e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Mapeamento por IA, Diff de Reconciliação, Undo e System Designer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 (Registro): 100% implementado — Todos os desvios são registrados formalmente via F 001-29 com numer...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 (Controle): 100% implementado — Metodologias 5W2H, Ishikawa 6M, 5 Porquês e Matriz 5x5 aplicadas co...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Diagnóstico calculado a partir dos dados reais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• STATUS SISTÊMICO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 STATUS DE HOMOLOGAÇÃO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rigorosa dos módulos: Implementado, Em Homologação, Planejado e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HOMOLOGADOS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100% Produção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MRO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MRO API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Expansão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Conectores H2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garantida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978408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/ Capacidade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de Homologação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Estágio de Uso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de Segurança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Fluxo Digital de Não Conformidades (F 001-29)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Totalmente auditável com hash Firestore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Risco Aeronáutico 5x5 &amp;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 estritas de validação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Pessoas, Competências &amp; CHTs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 automático e bloqueio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Documental &amp; Consulta Temporal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histórico e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Metrologia, Ferramental &amp; Créditos RBC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Rastreabilidade de laudos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Apresentação Gerencial Integrada 70/30 (Fase 12)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e PPTX Widescreen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Espelho fiel e auto-fit geométrico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por Requisitos &amp; Resolução por Exceção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Control, Multiple Requirements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10 registros (+ 3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executiva: distinção clara entre o que já está homologado e o que está em expansão ou planejado.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FASES 1 A 15 IMPLEMENTADAS &amp; HOMOLOGADAS: F 001-29, 6M/5W2H, Pessoas/CHTs, Documentos com Consulta Tempo...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Matriz de Homologação e Ciclo de Releases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• ROADMAP ESTRATÉGICO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contínua, compromissos de desenvolvimento e marcos de conformidade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Curto, Médio, Longo e Futuro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1 A 15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Ativas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e Homologado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ENTREGA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II em curso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de funcionalidades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Tecnológica do QualiGest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Core Fases 1-15: 100% Implementado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ERPs &amp; Conectores: Em Homologação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Predição ATA 100: Planejado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H4: Ecossistema Global: Futuro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55064"/>
                <a:gridCol w="676656"/>
                <a:gridCol w="649224"/>
                <a:gridCol w="23225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do Roadmap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Estratégico &amp; Impacto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 — Core Consolidado (Fases 1 a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RNCs, Pessoas, Manuais, Metrologia, Auditoria por Exceção, ADRs e Smart Import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 — Conectores ERP &amp; MRO Connect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Curto/Médio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bidirecional com SAP, Totvs, Quantum e Diários Eletrônicos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III — SGQ Preditivo &amp; Frota ATA 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Médio/Longo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Planejado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probabilística de falhas, confiabilidade e alertas AD/DA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IV — Ecossistema Global Inter-MRO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⚪ Futuro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colaborativa de lições aprendidas e benchmarking regulatório anonimizado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1 (Curto Prazo — Consolidado): Fases 1 a 15 100% operacionais — Ficha F 001-29, 6M/5W2H, Pessoas/...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 (Médio Prazo — Em Andamento): Expansão dos Conectores ERP/MRO (Impacto MRO API, SAP, Totvs, Qua...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Roadmap Estratégico e Planejamento Tecnológico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• CONCLUSÃO &amp; DIRETRIZES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EXECUTIVA E DIRETRIZES DA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da Garantia da Qualidade, compromissos para os próximos 30 dias e princípios do QualiGest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GERAL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SATISFATÓRIA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Diretrizes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REVISÃO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em 30d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FILOSOFIA SGQ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Atrito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com fluidez</a:t>
            </a:r>
            <a:endParaRPr lang="en-US" sz="7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035808"/>
                <a:gridCol w="3145536"/>
                <a:gridCol w="1069848"/>
                <a:gridCol w="3447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Estratégica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Designado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Requerida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Saneamento de Ações Atrasadas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Gerente de Manutenção /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5W2H concluído e evidência no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Reciclagem de Treinamentos/CHTs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 Técnico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curso emitido e anexado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Homologação de Eficácia de RNCs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Chefe / Garantia da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Formulário F 001-29 assinado e arquivado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Parecer Oficial da Garantia da Qualidade e Diretoria Técnica.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• AUDITORIA &amp; METADADOS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 E RASTREABILIDADE DO RELATÓRIO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auditoria, ambiente de banco de dados, certificação auto-fit e metadados de emissão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v2.8.0-enterprise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INTEGRIDADE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QG-6A4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Especificação no Sistema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QualityPresentationGenerator (FASE 12.2 Consolidada)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do Usuário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 em Treinamento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 de Persistência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Firestore Enterprise Multi-Tenant Seguro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Chaves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isolation (Node.js Express / process.env.GEMINI_API_KEY)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Trilha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Append-Only 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Auto-Fit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Homologado — 0 Overflows ou Colisões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Nova Empresa Hangar SGQ | Fonte: Metadados do sistema, trilhas de auditoria e configurações do projeto.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2026-10-11T12:13:39Z</dcterms:created>
  <dcterms:modified xsi:type="dcterms:W3CDTF">2026-10-11T12:13:39Z</dcterms:modified>
</cp:coreProperties>
</file>